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7" r:id="rId5"/>
    <p:sldId id="260" r:id="rId6"/>
    <p:sldId id="261" r:id="rId7"/>
    <p:sldId id="262" r:id="rId8"/>
    <p:sldId id="276" r:id="rId9"/>
    <p:sldId id="269" r:id="rId10"/>
    <p:sldId id="272" r:id="rId11"/>
    <p:sldId id="263" r:id="rId12"/>
    <p:sldId id="277" r:id="rId13"/>
    <p:sldId id="270" r:id="rId14"/>
    <p:sldId id="264" r:id="rId15"/>
    <p:sldId id="278" r:id="rId16"/>
    <p:sldId id="271" r:id="rId17"/>
    <p:sldId id="275" r:id="rId18"/>
    <p:sldId id="273" r:id="rId19"/>
    <p:sldId id="274" r:id="rId20"/>
    <p:sldId id="268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2333"/>
    <a:srgbClr val="00FE00"/>
    <a:srgbClr val="FFFD00"/>
    <a:srgbClr val="0000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5"/>
    <p:restoredTop sz="94684"/>
  </p:normalViewPr>
  <p:slideViewPr>
    <p:cSldViewPr snapToGrid="0">
      <p:cViewPr varScale="1">
        <p:scale>
          <a:sx n="106" d="100"/>
          <a:sy n="106" d="100"/>
        </p:scale>
        <p:origin x="7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6C6CDE-4C4D-F345-92CD-5885E48DD128}" type="datetimeFigureOut">
              <a:rPr lang="it-IT" smtClean="0"/>
              <a:t>21/07/24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FF4B-BACB-7640-BA52-C39C46F250F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768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2FF4B-BACB-7640-BA52-C39C46F250F5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35085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2FF4B-BACB-7640-BA52-C39C46F250F5}" type="slidenum">
              <a:rPr lang="it-IT" smtClean="0"/>
              <a:t>14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4148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82FF4B-BACB-7640-BA52-C39C46F250F5}" type="slidenum">
              <a:rPr lang="it-IT" smtClean="0"/>
              <a:t>15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6460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66C2886-C528-0932-6F87-B327F033F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A33FE2-8762-5722-F06C-4B50A403C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FC30F68-E77B-6624-14C3-E8E36AD4E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1BB373-DAD1-41BF-556D-382B6545F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6B8D9C-1522-E913-B8E8-EAD07124B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65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C9A447-A3A1-BEA3-A910-42DB1CE15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ECC114-0720-1AFC-98A2-6A36AD044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28AACEB-D9DE-F7A0-5534-35B6C2C91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81E3E8-D699-E860-8F2F-E1BC6FC04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A4611E6-9B05-EEA5-2EF1-7AEA5172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02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56FE44-27F1-6B25-C565-D5BFB60DC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1075A31-ECBB-2DF1-241F-2562E0780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BEEB1B3-E572-DAC9-D3AC-C3DD327B9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B5D29EC-78EB-7BF5-C33D-FB0B5CCAB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484C2B-241A-6F23-D059-80EE540A3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420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0CE13E-D750-2F4F-B856-918216AB1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A5D81BD-BD0B-2ADC-480D-4F35B565E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84E25A9-4110-38BC-8B7F-1A099530D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764FB2B-7785-ED10-8804-48DCF0C0E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A58AABB-4C94-60B2-0317-ACE8A111B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A1148DD-2FD6-DE95-2124-67656AD73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3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64D06E-7E9B-8A9E-15B4-7F7D39E1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B3186E7-AB79-8B1B-281B-73F839009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4BD8AF1-D80C-A9CB-EE1F-4FE18B13C2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87BFAF-1F6E-9C94-81F0-E13AF7338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8E5B9A3-2F75-FF00-B6FC-4BDB10354C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5802008B-2E30-1BAF-B863-286454510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06A0F90-78BE-8F9F-00FA-CF9A5EB6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C9D3A66-CED2-0066-AC88-656742D6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29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60EB30C-66FB-1681-F85B-AB55FE9A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8AC1E4B-F9C9-0A4A-333F-9985F4184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1F1AC3-F90E-B7E0-9F74-06B25566C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B15A374-37C2-8A3F-5EC3-8C050758A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1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B0690B2-6F94-0E0B-CBBF-58A1E095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7242CF88-5FC5-16FB-1106-E77833437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6BCCF1B5-7B8D-4321-E4C1-2CB4745C7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910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815499-1E02-264A-9231-A1E29A90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E4F5AF-D35B-8B7B-87B3-66087652C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A152B39-7672-9F3A-8961-A7CA52755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7C1CA5-A957-9F70-8AC0-B711F94A4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0F179CD-11D8-9DE0-F418-1F1FB3DBF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C125C9C-A874-55DE-7DD8-EE3979983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50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8DB42E1-67C5-9EE2-548B-97A3172B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CD72DE4A-738D-B7C1-7C9F-67FC201AD6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E601A11-DB00-02B9-EBE0-24A00B887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8C3A7E3-58E9-919F-3C1D-9A25F81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4AB9FD3-E2D2-9E79-470B-6E239192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235DFCB-4129-2AD5-94C1-161BDA718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222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6A1C16-F91F-9660-E743-6E8FB7AAE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11AC066-AFBB-8EA8-4675-066693FC7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84080BA-6972-D8EE-4A67-42A11752F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EA33387-6104-C7E0-1EA6-38264083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2D88B1-57FE-450A-FFD1-4AE4E356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4F49127-84EA-E403-05E2-FAF232E13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197A0BD-E171-5822-7945-6F79EC3A5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F0AA35-EC24-C6BB-4BE3-F1005EF04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CA06ADD-C3FF-49DE-55F2-E7B45FDE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E4312AC-B70E-937B-3FFB-43F087A60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2455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olo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EB822F-FF55-5405-3A88-7E06EE65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1BB27FF-2B61-E5A9-A006-5E983117E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1C4840-272B-DEFA-1F2F-704B2175D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168C1FF-6BF6-6093-E9C6-26C22740B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57C961-62DF-3BA4-25DE-3B0B4C112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90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EF427F87-FE36-5FE3-4010-12200ED9C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9559DD6-E8A8-60C4-88D0-461036CA4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7FD135-BE1E-CA65-7A31-86100A4905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8B9ED-D00A-FA45-911B-C6491BC0FCCF}" type="datetimeFigureOut">
              <a:rPr lang="en-US" smtClean="0"/>
              <a:t>7/21/24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5BDEADE-EE49-B588-AA80-5D677979BD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36F888-0BBF-5D0E-5FD4-0AF62B8726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08CCD-3286-6345-8B68-F10D36D78E3C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104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jpeg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1.emf"/><Relationship Id="rId7" Type="http://schemas.openxmlformats.org/officeDocument/2006/relationships/image" Target="../media/image3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2.emf"/><Relationship Id="rId9" Type="http://schemas.openxmlformats.org/officeDocument/2006/relationships/image" Target="../media/image3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emf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emf"/><Relationship Id="rId3" Type="http://schemas.openxmlformats.org/officeDocument/2006/relationships/image" Target="../media/image47.emf"/><Relationship Id="rId7" Type="http://schemas.openxmlformats.org/officeDocument/2006/relationships/image" Target="../media/image5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0.emf"/><Relationship Id="rId5" Type="http://schemas.openxmlformats.org/officeDocument/2006/relationships/image" Target="../media/image49.emf"/><Relationship Id="rId4" Type="http://schemas.openxmlformats.org/officeDocument/2006/relationships/image" Target="../media/image4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>
            <a:extLst>
              <a:ext uri="{FF2B5EF4-FFF2-40B4-BE49-F238E27FC236}">
                <a16:creationId xmlns:a16="http://schemas.microsoft.com/office/drawing/2014/main" id="{BCA2CD2A-1F52-63B1-5576-BC435BAB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3429000"/>
          </a:xfrm>
          <a:prstGeom prst="rect">
            <a:avLst/>
          </a:prstGeom>
          <a:solidFill>
            <a:srgbClr val="00677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822433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it-IT" altLang="it-IT" sz="900">
              <a:solidFill>
                <a:schemeClr val="bg1"/>
              </a:solidFill>
            </a:endParaRPr>
          </a:p>
        </p:txBody>
      </p:sp>
      <p:pic>
        <p:nvPicPr>
          <p:cNvPr id="11" name="Picture 15" descr="Fondino">
            <a:extLst>
              <a:ext uri="{FF2B5EF4-FFF2-40B4-BE49-F238E27FC236}">
                <a16:creationId xmlns:a16="http://schemas.microsoft.com/office/drawing/2014/main" id="{CE1FC9F6-A4BF-8D9C-D693-9C7223CD4B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425825"/>
            <a:ext cx="1219200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13" descr="logo +marchio">
            <a:extLst>
              <a:ext uri="{FF2B5EF4-FFF2-40B4-BE49-F238E27FC236}">
                <a16:creationId xmlns:a16="http://schemas.microsoft.com/office/drawing/2014/main" id="{A726282F-C579-5216-B7B0-F103F3150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99312"/>
            <a:ext cx="9145588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 descr="fascia">
            <a:extLst>
              <a:ext uri="{FF2B5EF4-FFF2-40B4-BE49-F238E27FC236}">
                <a16:creationId xmlns:a16="http://schemas.microsoft.com/office/drawing/2014/main" id="{7525F165-D9EC-0D91-3F3B-D2E4820CC4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150" y="2854077"/>
            <a:ext cx="7054850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olo 1">
            <a:extLst>
              <a:ext uri="{FF2B5EF4-FFF2-40B4-BE49-F238E27FC236}">
                <a16:creationId xmlns:a16="http://schemas.microsoft.com/office/drawing/2014/main" id="{8622D7CD-AF1B-FF3E-4F0A-B9CA93EB05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9003" y="325414"/>
            <a:ext cx="9144000" cy="1368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NMR Imaging di </a:t>
            </a:r>
            <a:r>
              <a:rPr lang="it-IT" b="1" dirty="0">
                <a:solidFill>
                  <a:schemeClr val="bg1"/>
                </a:solidFill>
              </a:rPr>
              <a:t>placente</a:t>
            </a:r>
          </a:p>
        </p:txBody>
      </p:sp>
      <p:sp>
        <p:nvSpPr>
          <p:cNvPr id="19" name="Sottotitolo 2">
            <a:extLst>
              <a:ext uri="{FF2B5EF4-FFF2-40B4-BE49-F238E27FC236}">
                <a16:creationId xmlns:a16="http://schemas.microsoft.com/office/drawing/2014/main" id="{3387F086-8270-2FAF-8CF4-CA5F47C27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7149" y="2238536"/>
            <a:ext cx="6722341" cy="3719927"/>
          </a:xfrm>
        </p:spPr>
        <p:txBody>
          <a:bodyPr>
            <a:normAutofit/>
          </a:bodyPr>
          <a:lstStyle/>
          <a:p>
            <a:r>
              <a:rPr lang="en-CA" sz="3000" b="1" dirty="0">
                <a:solidFill>
                  <a:schemeClr val="bg1"/>
                </a:solidFill>
              </a:rPr>
              <a:t>Physics Laboratory II </a:t>
            </a:r>
          </a:p>
          <a:p>
            <a:endParaRPr lang="it-IT" sz="3000" b="1" dirty="0">
              <a:solidFill>
                <a:schemeClr val="bg1"/>
              </a:solidFill>
            </a:endParaRPr>
          </a:p>
          <a:p>
            <a:endParaRPr lang="it-IT" sz="3000" b="1" dirty="0">
              <a:solidFill>
                <a:schemeClr val="bg1"/>
              </a:solidFill>
            </a:endParaRPr>
          </a:p>
          <a:p>
            <a:endParaRPr lang="it-IT" sz="3000" b="1" dirty="0">
              <a:solidFill>
                <a:schemeClr val="bg1"/>
              </a:solidFill>
            </a:endParaRPr>
          </a:p>
          <a:p>
            <a:pPr algn="r"/>
            <a:r>
              <a:rPr lang="it-IT" dirty="0">
                <a:solidFill>
                  <a:schemeClr val="bg1"/>
                </a:solidFill>
              </a:rPr>
              <a:t>Professore: Alessandro Nucara</a:t>
            </a:r>
          </a:p>
          <a:p>
            <a:pPr algn="r"/>
            <a:r>
              <a:rPr lang="it-IT" dirty="0">
                <a:solidFill>
                  <a:schemeClr val="bg1"/>
                </a:solidFill>
              </a:rPr>
              <a:t>Tutor: Silvia Capuani</a:t>
            </a:r>
          </a:p>
          <a:p>
            <a:pPr algn="r"/>
            <a:r>
              <a:rPr lang="it-IT" dirty="0">
                <a:solidFill>
                  <a:schemeClr val="bg1"/>
                </a:solidFill>
              </a:rPr>
              <a:t>Studente: Andrea Belli Contarini</a:t>
            </a:r>
          </a:p>
        </p:txBody>
      </p:sp>
    </p:spTree>
    <p:extLst>
      <p:ext uri="{BB962C8B-B14F-4D97-AF65-F5344CB8AC3E}">
        <p14:creationId xmlns:p14="http://schemas.microsoft.com/office/powerpoint/2010/main" val="152529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5" descr="Fondino">
            <a:extLst>
              <a:ext uri="{FF2B5EF4-FFF2-40B4-BE49-F238E27FC236}">
                <a16:creationId xmlns:a16="http://schemas.microsoft.com/office/drawing/2014/main" id="{85589C80-E881-DFD7-B22A-EF3FD2B80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E126B680-E41C-16B2-25EB-5D3146FB1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2" y="491235"/>
            <a:ext cx="5106657" cy="638370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it-IT" altLang="it-IT" sz="3900" b="1" dirty="0">
                <a:solidFill>
                  <a:srgbClr val="822433"/>
                </a:solidFill>
              </a:rPr>
              <a:t>Definizioni</a:t>
            </a:r>
            <a:r>
              <a:rPr lang="it-IT" altLang="it-IT" dirty="0"/>
              <a:t> </a:t>
            </a:r>
            <a:r>
              <a:rPr lang="it-IT" altLang="it-IT" sz="3900" b="1" dirty="0">
                <a:solidFill>
                  <a:srgbClr val="822433"/>
                </a:solidFill>
              </a:rPr>
              <a:t>preliminari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25F8C122-148D-4DF6-2619-88B14FF955A4}"/>
                  </a:ext>
                </a:extLst>
              </p:cNvPr>
              <p:cNvSpPr>
                <a:spLocks noGrp="1" noChangeArrowheads="1"/>
              </p:cNvSpPr>
              <p:nvPr>
                <p:ph type="body" sz="half" idx="1"/>
              </p:nvPr>
            </p:nvSpPr>
            <p:spPr>
              <a:xfrm>
                <a:off x="1116012" y="1288225"/>
                <a:ext cx="5106657" cy="4539838"/>
              </a:xfrm>
            </p:spPr>
            <p:txBody>
              <a:bodyPr>
                <a:noAutofit/>
              </a:bodyPr>
              <a:lstStyle/>
              <a:p>
                <a:r>
                  <a:rPr lang="it-IT" sz="2200" b="1" dirty="0"/>
                  <a:t>Perfusione</a:t>
                </a:r>
                <a:r>
                  <a:rPr lang="it-IT" sz="2200" dirty="0"/>
                  <a:t>: trasporto del sangue ai tessuti attraverso il sistema vascolare, fornendo nutrienti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it-IT" sz="2200" dirty="0"/>
                  <a:t>.</a:t>
                </a:r>
              </a:p>
              <a:p>
                <a:endParaRPr lang="it-IT" sz="2200" dirty="0"/>
              </a:p>
              <a:p>
                <a:r>
                  <a:rPr lang="it-IT" sz="2200" b="1" dirty="0"/>
                  <a:t>Diffusione</a:t>
                </a:r>
                <a:r>
                  <a:rPr lang="it-IT" sz="2200" dirty="0"/>
                  <a:t>: movimento spontaneo di particelle da una regione di alta concentrazione ad una più bassa.</a:t>
                </a:r>
              </a:p>
              <a:p>
                <a:endParaRPr lang="it-IT" sz="2200" dirty="0"/>
              </a:p>
              <a:p>
                <a:r>
                  <a:rPr lang="it-IT" sz="2200" b="1" dirty="0"/>
                  <a:t>Diffusion-weighted imaging (DWI)</a:t>
                </a:r>
                <a:r>
                  <a:rPr lang="it-IT" sz="2200" dirty="0"/>
                  <a:t>: tecnica che genera contrasto delle immagini in base alle variazioni del moto browniano delle molecole d'acqua nei tessuti.</a:t>
                </a:r>
              </a:p>
              <a:p>
                <a:pPr marL="0" indent="0" eaLnBrk="1" hangingPunct="1">
                  <a:lnSpc>
                    <a:spcPct val="140000"/>
                  </a:lnSpc>
                  <a:buNone/>
                </a:pPr>
                <a:endParaRPr lang="it-IT" altLang="it-IT" sz="2200" dirty="0"/>
              </a:p>
            </p:txBody>
          </p:sp>
        </mc:Choice>
        <mc:Fallback xmlns="">
          <p:sp>
            <p:nvSpPr>
              <p:cNvPr id="10" name="Rectangle 3">
                <a:extLst>
                  <a:ext uri="{FF2B5EF4-FFF2-40B4-BE49-F238E27FC236}">
                    <a16:creationId xmlns:a16="http://schemas.microsoft.com/office/drawing/2014/main" id="{25F8C122-148D-4DF6-2619-88B14FF955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116012" y="1288225"/>
                <a:ext cx="5106657" cy="4539838"/>
              </a:xfrm>
              <a:blipFill>
                <a:blip r:embed="rId3"/>
                <a:stretch>
                  <a:fillRect l="-1238" t="-1676" r="-743" b="-251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4">
            <a:extLst>
              <a:ext uri="{FF2B5EF4-FFF2-40B4-BE49-F238E27FC236}">
                <a16:creationId xmlns:a16="http://schemas.microsoft.com/office/drawing/2014/main" id="{C824C532-4AA2-9D86-DC64-5059F2FEAC3B}"/>
              </a:ext>
            </a:extLst>
          </p:cNvPr>
          <p:cNvSpPr txBox="1">
            <a:spLocks noChangeArrowheads="1"/>
          </p:cNvSpPr>
          <p:nvPr/>
        </p:nvSpPr>
        <p:spPr>
          <a:xfrm>
            <a:off x="6792707" y="2074998"/>
            <a:ext cx="4785323" cy="2034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it-IT" sz="2000" dirty="0"/>
              <a:t>Verificare se i risultati di diffusione e</a:t>
            </a:r>
            <a:br>
              <a:rPr lang="it-IT" sz="2000" dirty="0"/>
            </a:br>
            <a:r>
              <a:rPr lang="it-IT" sz="2000" dirty="0"/>
              <a:t>perfusione ottenuti nel lavoro di Maiuro et al. </a:t>
            </a:r>
            <a:r>
              <a:rPr lang="it-IT" sz="2000" i="1" dirty="0"/>
              <a:t>[1]</a:t>
            </a:r>
            <a:r>
              <a:rPr lang="it-IT" sz="2000" dirty="0"/>
              <a:t> dipendono dall'intensità del campo magnetico statico (1.5</a:t>
            </a:r>
            <a:r>
              <a:rPr lang="it-IT" sz="2000" i="1" dirty="0"/>
              <a:t>T</a:t>
            </a:r>
            <a:r>
              <a:rPr lang="it-IT" sz="2000" dirty="0"/>
              <a:t> vs 3.0</a:t>
            </a:r>
            <a:r>
              <a:rPr lang="it-IT" sz="2000" i="1" dirty="0"/>
              <a:t>T</a:t>
            </a:r>
            <a:r>
              <a:rPr lang="it-IT" sz="2000" dirty="0"/>
              <a:t>).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499A496E-5AD8-3FCF-6E25-E000864F3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5977" y="491235"/>
            <a:ext cx="3455987" cy="638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rgbClr val="822433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822433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it-IT" altLang="it-IT" sz="3500" dirty="0"/>
              <a:t>Obiettivo</a:t>
            </a:r>
          </a:p>
        </p:txBody>
      </p:sp>
    </p:spTree>
    <p:extLst>
      <p:ext uri="{BB962C8B-B14F-4D97-AF65-F5344CB8AC3E}">
        <p14:creationId xmlns:p14="http://schemas.microsoft.com/office/powerpoint/2010/main" val="253740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10BC5F-4E5E-5ED9-665F-7600C7B99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29"/>
            <a:ext cx="10515600" cy="1325563"/>
          </a:xfrm>
        </p:spPr>
        <p:txBody>
          <a:bodyPr/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Fondamenti fisici della NMR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4FD8F854-76E4-6EE9-8104-E4DDC27E36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56062" y="1338155"/>
                <a:ext cx="10515600" cy="81069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it-IT" sz="2200" b="1" dirty="0"/>
                  <a:t>Principio del NMR</a:t>
                </a:r>
                <a:r>
                  <a:rPr lang="it-IT" sz="2200" dirty="0"/>
                  <a:t>: interazione tra un campo magnetico esterno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200" dirty="0"/>
                  <a:t> e lo spin nucleare intrinseco di molti nuclei.</a:t>
                </a:r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4FD8F854-76E4-6EE9-8104-E4DDC27E36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6062" y="1338155"/>
                <a:ext cx="10515600" cy="810697"/>
              </a:xfrm>
              <a:blipFill>
                <a:blip r:embed="rId2"/>
                <a:stretch>
                  <a:fillRect l="-724" t="-4615" b="-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5" descr="Fondino">
            <a:extLst>
              <a:ext uri="{FF2B5EF4-FFF2-40B4-BE49-F238E27FC236}">
                <a16:creationId xmlns:a16="http://schemas.microsoft.com/office/drawing/2014/main" id="{033F0348-DC63-43EE-CDCE-7619EC145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F37EAB8-AF69-DA56-1FBF-87935DED7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371" y="2870500"/>
            <a:ext cx="2728967" cy="257152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2">
                <a:extLst>
                  <a:ext uri="{FF2B5EF4-FFF2-40B4-BE49-F238E27FC236}">
                    <a16:creationId xmlns:a16="http://schemas.microsoft.com/office/drawing/2014/main" id="{F48E88A7-7E3B-6E3C-CE04-A388F028F9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322" y="2293438"/>
                <a:ext cx="7893511" cy="241571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</a:pPr>
                <a:r>
                  <a:rPr lang="it-IT" sz="2200" b="1" dirty="0"/>
                  <a:t>Funzionamento</a:t>
                </a:r>
                <a:r>
                  <a:rPr lang="it-IT" sz="2200" dirty="0"/>
                  <a:t>: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1.</a:t>
                </a:r>
                <a:r>
                  <a:rPr lang="it-IT" sz="2200" dirty="0"/>
                  <a:t> Applicando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200" dirty="0"/>
                  <a:t> si allineano  i nuclei con lo spin.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2. </a:t>
                </a:r>
                <a:r>
                  <a:rPr lang="it-IT" sz="2200" dirty="0"/>
                  <a:t>Applicando un impulso </a:t>
                </a:r>
                <a:r>
                  <a:rPr lang="it-IT" sz="2200" i="1" dirty="0"/>
                  <a:t>RF</a:t>
                </a:r>
                <a:r>
                  <a:rPr lang="it-IT" sz="2200" dirty="0"/>
                  <a:t> alla </a:t>
                </a:r>
                <a:r>
                  <a:rPr lang="it-IT" sz="2200" b="1" dirty="0"/>
                  <a:t>frequenza di Larmor </a:t>
                </a:r>
                <a:r>
                  <a:rPr lang="it-IT" sz="2200" dirty="0"/>
                  <a:t>i nuclei si            muovono e cambiano orientamento.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3. </a:t>
                </a:r>
                <a:r>
                  <a:rPr lang="it-IT" sz="2200" i="1" dirty="0"/>
                  <a:t>RF</a:t>
                </a:r>
                <a:r>
                  <a:rPr lang="it-IT" sz="2200" dirty="0"/>
                  <a:t> </a:t>
                </a:r>
                <a:r>
                  <a:rPr lang="it-IT" sz="2200" i="1" dirty="0"/>
                  <a:t>pulse </a:t>
                </a:r>
                <a:r>
                  <a:rPr lang="it-IT" sz="2200" dirty="0"/>
                  <a:t>genera “oscillazioni di Rabi’’</a:t>
                </a:r>
                <a:r>
                  <a:rPr lang="it-IT" sz="2200" i="1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4. Risonanza</a:t>
                </a:r>
                <a:r>
                  <a:rPr lang="it-IT" sz="2200" dirty="0"/>
                  <a:t>: assorbimento di energia durante queste transizioni.</a:t>
                </a:r>
              </a:p>
            </p:txBody>
          </p:sp>
        </mc:Choice>
        <mc:Fallback xmlns="">
          <p:sp>
            <p:nvSpPr>
              <p:cNvPr id="7" name="Segnaposto testo 2">
                <a:extLst>
                  <a:ext uri="{FF2B5EF4-FFF2-40B4-BE49-F238E27FC236}">
                    <a16:creationId xmlns:a16="http://schemas.microsoft.com/office/drawing/2014/main" id="{F48E88A7-7E3B-6E3C-CE04-A388F028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22" y="2293438"/>
                <a:ext cx="7893511" cy="2415711"/>
              </a:xfrm>
              <a:prstGeom prst="rect">
                <a:avLst/>
              </a:prstGeom>
              <a:blipFill>
                <a:blip r:embed="rId5"/>
                <a:stretch>
                  <a:fillRect l="-803" t="-31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C449FD9-2F94-32EA-7A17-678B66BDE0C8}"/>
                  </a:ext>
                </a:extLst>
              </p:cNvPr>
              <p:cNvSpPr txBox="1"/>
              <p:nvPr/>
            </p:nvSpPr>
            <p:spPr>
              <a:xfrm>
                <a:off x="9704854" y="2480041"/>
                <a:ext cx="10947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it-IT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b="1" dirty="0"/>
                  <a:t> 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t-IT" b="1" dirty="0"/>
                  <a:t> 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BC449FD9-2F94-32EA-7A17-678B66BDE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4854" y="2480041"/>
                <a:ext cx="1094723" cy="276999"/>
              </a:xfrm>
              <a:prstGeom prst="rect">
                <a:avLst/>
              </a:prstGeom>
              <a:blipFill>
                <a:blip r:embed="rId6"/>
                <a:stretch>
                  <a:fillRect l="-5747" t="-27273" b="-5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B5FAA7E-006D-D616-42D3-ADA4C517BFC3}"/>
                  </a:ext>
                </a:extLst>
              </p:cNvPr>
              <p:cNvSpPr txBox="1"/>
              <p:nvPr/>
            </p:nvSpPr>
            <p:spPr>
              <a:xfrm>
                <a:off x="9232771" y="5480621"/>
                <a:ext cx="203889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it-IT" b="1" i="1" smtClean="0">
                        <a:latin typeface="Cambria Math" panose="02040503050406030204" pitchFamily="18" charset="0"/>
                      </a:rPr>
                      <m:t>𝜟</m:t>
                    </m:r>
                    <m:r>
                      <a:rPr lang="it-IT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b="1" dirty="0"/>
                  <a:t> ħ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t-IT" b="1" dirty="0"/>
                  <a:t> </a:t>
                </a:r>
                <a14:m>
                  <m:oMath xmlns:m="http://schemas.openxmlformats.org/officeDocument/2006/math">
                    <m:r>
                      <a:rPr lang="it-IT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b="1" dirty="0"/>
                  <a:t> ħ 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it-IT" b="1" dirty="0"/>
                  <a:t> 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3B5FAA7E-006D-D616-42D3-ADA4C517B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2771" y="5480621"/>
                <a:ext cx="2038891" cy="276999"/>
              </a:xfrm>
              <a:prstGeom prst="rect">
                <a:avLst/>
              </a:prstGeom>
              <a:blipFill>
                <a:blip r:embed="rId7"/>
                <a:stretch>
                  <a:fillRect l="-4348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ttangolo 4">
            <a:extLst>
              <a:ext uri="{FF2B5EF4-FFF2-40B4-BE49-F238E27FC236}">
                <a16:creationId xmlns:a16="http://schemas.microsoft.com/office/drawing/2014/main" id="{EEF27831-39D3-9847-2C6C-86E9B507DB86}"/>
              </a:ext>
            </a:extLst>
          </p:cNvPr>
          <p:cNvSpPr/>
          <p:nvPr/>
        </p:nvSpPr>
        <p:spPr>
          <a:xfrm>
            <a:off x="9515945" y="2463697"/>
            <a:ext cx="1472540" cy="360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696451EC-7B56-EE6E-83D2-211534D2F613}"/>
              </a:ext>
            </a:extLst>
          </p:cNvPr>
          <p:cNvSpPr/>
          <p:nvPr/>
        </p:nvSpPr>
        <p:spPr>
          <a:xfrm>
            <a:off x="9132125" y="5441228"/>
            <a:ext cx="2221675" cy="3602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BCC1C0B2-D43A-6867-6FBD-B6148C2AAC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79357" y="4900162"/>
            <a:ext cx="2599640" cy="11609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53B9286-7CF2-E001-B8B2-AFA24623DE1D}"/>
                  </a:ext>
                </a:extLst>
              </p:cNvPr>
              <p:cNvSpPr txBox="1"/>
              <p:nvPr/>
            </p:nvSpPr>
            <p:spPr>
              <a:xfrm>
                <a:off x="5097751" y="5641124"/>
                <a:ext cx="31304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200" i="1" dirty="0"/>
                  <a:t>RF pulse </a:t>
                </a:r>
                <a:r>
                  <a:rPr lang="it-IT" sz="1200" dirty="0"/>
                  <a:t>fornisce energia agli spin, inclinando la magnetizzazione rispetto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1200" dirty="0"/>
                  <a:t> </a:t>
                </a:r>
                <a:r>
                  <a:rPr lang="it-IT" sz="1200" i="1" dirty="0"/>
                  <a:t>[4]</a:t>
                </a:r>
                <a:r>
                  <a:rPr lang="it-IT" sz="1200" dirty="0"/>
                  <a:t>.</a:t>
                </a:r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753B9286-7CF2-E001-B8B2-AFA24623DE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7751" y="5641124"/>
                <a:ext cx="3130476" cy="461665"/>
              </a:xfrm>
              <a:prstGeom prst="rect">
                <a:avLst/>
              </a:prstGeom>
              <a:blipFill>
                <a:blip r:embed="rId9"/>
                <a:stretch>
                  <a:fillRect r="-405" b="-810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748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D8F854-76E4-6EE9-8104-E4DDC27E3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322" y="1389008"/>
            <a:ext cx="10515600" cy="910869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2200" dirty="0"/>
              <a:t>Dopo il </a:t>
            </a:r>
            <a:r>
              <a:rPr lang="it-IT" sz="2200" i="1" dirty="0"/>
              <a:t>RF </a:t>
            </a:r>
            <a:r>
              <a:rPr lang="en-US" sz="2200" i="1" dirty="0"/>
              <a:t>pulse</a:t>
            </a:r>
            <a:r>
              <a:rPr lang="it-IT" sz="2200" dirty="0"/>
              <a:t> i nuclei iniziano a </a:t>
            </a:r>
            <a:r>
              <a:rPr lang="it-IT" sz="2200" b="1" dirty="0"/>
              <a:t>rilassarsi</a:t>
            </a:r>
            <a:r>
              <a:rPr lang="it-IT" sz="2200" dirty="0"/>
              <a:t> </a:t>
            </a:r>
            <a:r>
              <a:rPr lang="it-IT" sz="2200" dirty="0">
                <a:sym typeface="Wingdings" pitchFamily="2" charset="2"/>
              </a:rPr>
              <a:t></a:t>
            </a:r>
            <a:r>
              <a:rPr lang="it-IT" sz="2200" dirty="0"/>
              <a:t> rilasciano energia sotto forma di segnale che può essere rilevato dalla strumentazione NMR. </a:t>
            </a:r>
          </a:p>
        </p:txBody>
      </p:sp>
      <p:pic>
        <p:nvPicPr>
          <p:cNvPr id="4" name="Picture 15" descr="Fondino">
            <a:extLst>
              <a:ext uri="{FF2B5EF4-FFF2-40B4-BE49-F238E27FC236}">
                <a16:creationId xmlns:a16="http://schemas.microsoft.com/office/drawing/2014/main" id="{033F0348-DC63-43EE-CDCE-7619EC145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Segnaposto testo 2">
                <a:extLst>
                  <a:ext uri="{FF2B5EF4-FFF2-40B4-BE49-F238E27FC236}">
                    <a16:creationId xmlns:a16="http://schemas.microsoft.com/office/drawing/2014/main" id="{F48E88A7-7E3B-6E3C-CE04-A388F028F9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31322" y="2386234"/>
                <a:ext cx="6845134" cy="36315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1.  Rilassamento longitudinale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2200" dirty="0"/>
                  <a:t>:  ritorno della magnetizzazione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</m:oMath>
                </a14:m>
                <a:r>
                  <a:rPr lang="it-IT" sz="2200" dirty="0"/>
                  <a:t>) parallela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it-IT" sz="22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it-IT" sz="2200" dirty="0"/>
                  <a:t> allo stato di equilibrio.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2.  Rilassamento trasversale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22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𝑥𝑦</m:t>
                        </m:r>
                      </m:sub>
                    </m:sSub>
                  </m:oMath>
                </a14:m>
                <a:r>
                  <a:rPr lang="it-IT" sz="2200" dirty="0"/>
                  <a:t> diminuisce a causa delle interazioni tra i nuclei (</a:t>
                </a:r>
                <a:r>
                  <a:rPr lang="it-IT" sz="2200" i="1" dirty="0"/>
                  <a:t>spin-spi</a:t>
                </a:r>
                <a:r>
                  <a:rPr lang="it-IT" sz="2200" dirty="0"/>
                  <a:t>n).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3.  Tempo di eco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</m:oMath>
                </a14:m>
                <a:r>
                  <a:rPr lang="it-IT" sz="2200" dirty="0"/>
                  <a:t>: </a:t>
                </a:r>
                <a14:m>
                  <m:oMath xmlns:m="http://schemas.openxmlformats.org/officeDocument/2006/math">
                    <m:r>
                      <a:rPr lang="it-IT" sz="2200" i="1" dirty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sz="2200" i="1" dirty="0"/>
                  <a:t> </a:t>
                </a:r>
                <a:r>
                  <a:rPr lang="it-IT" sz="2200" dirty="0"/>
                  <a:t>tra </a:t>
                </a:r>
                <a:r>
                  <a:rPr lang="it-IT" sz="2200" i="1" dirty="0"/>
                  <a:t>RF pulse </a:t>
                </a:r>
                <a:r>
                  <a:rPr lang="it-IT" sz="2200" dirty="0"/>
                  <a:t>e il picco del segnale eco rilevato; influenza il </a:t>
                </a:r>
                <a:r>
                  <a:rPr lang="it-IT" sz="2200" b="1" dirty="0"/>
                  <a:t>contrasto</a:t>
                </a:r>
                <a:r>
                  <a:rPr lang="it-IT" sz="2200" dirty="0"/>
                  <a:t> dell'immagine.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it-IT" sz="2200" b="1" dirty="0"/>
                  <a:t>4. Tempo di ripetizione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sub>
                    </m:sSub>
                  </m:oMath>
                </a14:m>
                <a:r>
                  <a:rPr lang="it-IT" sz="2200" b="1" dirty="0"/>
                  <a:t>: </a:t>
                </a:r>
                <a14:m>
                  <m:oMath xmlns:m="http://schemas.openxmlformats.org/officeDocument/2006/math">
                    <m:r>
                      <a:rPr lang="it-IT" sz="22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it-IT" sz="22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it-IT" sz="2200" dirty="0"/>
                  <a:t> tra sequenza di impulsi </a:t>
                </a:r>
                <a:r>
                  <a:rPr lang="it-IT" sz="2200" i="1" dirty="0"/>
                  <a:t>RF</a:t>
                </a:r>
                <a:r>
                  <a:rPr lang="it-IT" sz="2200" dirty="0"/>
                  <a:t> ed successiva </a:t>
                </a:r>
                <a:r>
                  <a:rPr lang="it-IT" sz="2200" dirty="0">
                    <a:sym typeface="Wingdings" pitchFamily="2" charset="2"/>
                  </a:rPr>
                  <a:t> </a:t>
                </a:r>
                <a:r>
                  <a:rPr lang="it-IT" sz="2200" dirty="0"/>
                  <a:t>determina la quantità di </a:t>
                </a:r>
                <a:r>
                  <a:rPr lang="it-IT" sz="2200" b="1" dirty="0"/>
                  <a:t>rilassamento</a:t>
                </a:r>
                <a:r>
                  <a:rPr lang="it-IT" sz="2200" dirty="0"/>
                  <a:t> longitudinale che avviene tra gli impulsi.</a:t>
                </a:r>
              </a:p>
            </p:txBody>
          </p:sp>
        </mc:Choice>
        <mc:Fallback xmlns="">
          <p:sp>
            <p:nvSpPr>
              <p:cNvPr id="7" name="Segnaposto testo 2">
                <a:extLst>
                  <a:ext uri="{FF2B5EF4-FFF2-40B4-BE49-F238E27FC236}">
                    <a16:creationId xmlns:a16="http://schemas.microsoft.com/office/drawing/2014/main" id="{F48E88A7-7E3B-6E3C-CE04-A388F028F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22" y="2386234"/>
                <a:ext cx="6845134" cy="3631507"/>
              </a:xfrm>
              <a:prstGeom prst="rect">
                <a:avLst/>
              </a:prstGeom>
              <a:blipFill>
                <a:blip r:embed="rId4"/>
                <a:stretch>
                  <a:fillRect l="-1111" t="-1045" r="-741" b="-34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mmagine 12">
            <a:extLst>
              <a:ext uri="{FF2B5EF4-FFF2-40B4-BE49-F238E27FC236}">
                <a16:creationId xmlns:a16="http://schemas.microsoft.com/office/drawing/2014/main" id="{666F154C-D846-1F69-F54C-EFF87DC167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0574" y="4623471"/>
            <a:ext cx="4177670" cy="1280745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95A8DE54-65D8-11FD-669B-43F2B32ECE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574" y="2520009"/>
            <a:ext cx="4177670" cy="1265649"/>
          </a:xfrm>
          <a:prstGeom prst="rect">
            <a:avLst/>
          </a:prstGeom>
        </p:spPr>
      </p:pic>
      <p:sp>
        <p:nvSpPr>
          <p:cNvPr id="16" name="Rettangolo 15">
            <a:extLst>
              <a:ext uri="{FF2B5EF4-FFF2-40B4-BE49-F238E27FC236}">
                <a16:creationId xmlns:a16="http://schemas.microsoft.com/office/drawing/2014/main" id="{157D1C52-5143-1AD5-5052-A1C694A9A3DE}"/>
              </a:ext>
            </a:extLst>
          </p:cNvPr>
          <p:cNvSpPr/>
          <p:nvPr/>
        </p:nvSpPr>
        <p:spPr>
          <a:xfrm>
            <a:off x="11439565" y="2363400"/>
            <a:ext cx="538679" cy="3132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4746E86C-E23E-ECA3-C310-D7B2E1284849}"/>
                  </a:ext>
                </a:extLst>
              </p:cNvPr>
              <p:cNvSpPr txBox="1"/>
              <p:nvPr/>
            </p:nvSpPr>
            <p:spPr>
              <a:xfrm>
                <a:off x="11568835" y="2386234"/>
                <a:ext cx="307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4746E86C-E23E-ECA3-C310-D7B2E1284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8835" y="2386234"/>
                <a:ext cx="307712" cy="276999"/>
              </a:xfrm>
              <a:prstGeom prst="rect">
                <a:avLst/>
              </a:prstGeom>
              <a:blipFill>
                <a:blip r:embed="rId7"/>
                <a:stretch>
                  <a:fillRect l="-20000" r="-4000" b="-173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ttangolo 17">
            <a:extLst>
              <a:ext uri="{FF2B5EF4-FFF2-40B4-BE49-F238E27FC236}">
                <a16:creationId xmlns:a16="http://schemas.microsoft.com/office/drawing/2014/main" id="{AF9CD8EE-FD65-A9C7-A64A-A8D1BADD4A48}"/>
              </a:ext>
            </a:extLst>
          </p:cNvPr>
          <p:cNvSpPr/>
          <p:nvPr/>
        </p:nvSpPr>
        <p:spPr>
          <a:xfrm>
            <a:off x="11439565" y="4512610"/>
            <a:ext cx="538679" cy="3132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F26DF7D6-FDC5-04B1-7EA1-9F54312CF2EF}"/>
                  </a:ext>
                </a:extLst>
              </p:cNvPr>
              <p:cNvSpPr txBox="1"/>
              <p:nvPr/>
            </p:nvSpPr>
            <p:spPr>
              <a:xfrm>
                <a:off x="11568835" y="4535444"/>
                <a:ext cx="30771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it-IT" b="1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F26DF7D6-FDC5-04B1-7EA1-9F54312CF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8835" y="4535444"/>
                <a:ext cx="307712" cy="276999"/>
              </a:xfrm>
              <a:prstGeom prst="rect">
                <a:avLst/>
              </a:prstGeom>
              <a:blipFill>
                <a:blip r:embed="rId8"/>
                <a:stretch>
                  <a:fillRect l="-20000" r="-4000"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itolo 1">
            <a:extLst>
              <a:ext uri="{FF2B5EF4-FFF2-40B4-BE49-F238E27FC236}">
                <a16:creationId xmlns:a16="http://schemas.microsoft.com/office/drawing/2014/main" id="{FE72DF8A-0EAE-0ED0-406E-E0FCC3C55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329"/>
            <a:ext cx="10515600" cy="1325563"/>
          </a:xfrm>
        </p:spPr>
        <p:txBody>
          <a:bodyPr/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Fondamenti fisici della NMR</a:t>
            </a:r>
          </a:p>
        </p:txBody>
      </p:sp>
    </p:spTree>
    <p:extLst>
      <p:ext uri="{BB962C8B-B14F-4D97-AF65-F5344CB8AC3E}">
        <p14:creationId xmlns:p14="http://schemas.microsoft.com/office/powerpoint/2010/main" val="2250736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FB680-2FAA-7591-9015-C672478E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Informazioni base sulla placenta umana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EA8AE81-FC32-A4A4-A24D-D30571625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75597"/>
            <a:ext cx="8341895" cy="809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200" dirty="0"/>
              <a:t>La placenta trasferisce ossigeno e sostanze nutritive dalla madre al feto.  Si compone principalmente da due parti: </a:t>
            </a:r>
          </a:p>
          <a:p>
            <a:pPr marL="0" indent="0">
              <a:buNone/>
            </a:pPr>
            <a:endParaRPr lang="it-IT" sz="22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1D600B6-2CE4-8492-D515-28BEF7290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1615" y="2330567"/>
            <a:ext cx="5805686" cy="3846396"/>
          </a:xfrm>
          <a:prstGeom prst="rect">
            <a:avLst/>
          </a:prstGeom>
        </p:spPr>
      </p:pic>
      <p:pic>
        <p:nvPicPr>
          <p:cNvPr id="6" name="Picture 15" descr="Fondino">
            <a:extLst>
              <a:ext uri="{FF2B5EF4-FFF2-40B4-BE49-F238E27FC236}">
                <a16:creationId xmlns:a16="http://schemas.microsoft.com/office/drawing/2014/main" id="{7930A3F0-A695-64FF-C4C0-8D232DF9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9E0CE2D-99C7-90CC-AAA5-D55A2815CDF0}"/>
              </a:ext>
            </a:extLst>
          </p:cNvPr>
          <p:cNvSpPr txBox="1"/>
          <p:nvPr/>
        </p:nvSpPr>
        <p:spPr>
          <a:xfrm>
            <a:off x="926432" y="2875547"/>
            <a:ext cx="54142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2200" dirty="0"/>
              <a:t>La placca corionica (lato </a:t>
            </a:r>
            <a:r>
              <a:rPr lang="it-IT" sz="2200" b="1" dirty="0"/>
              <a:t>fetale</a:t>
            </a:r>
            <a:r>
              <a:rPr lang="it-IT" sz="2200" dirty="0"/>
              <a:t>): contiene villi, ricoperti di </a:t>
            </a:r>
            <a:r>
              <a:rPr lang="it-IT" sz="2200" b="1" dirty="0"/>
              <a:t>trofoblasti</a:t>
            </a:r>
            <a:r>
              <a:rPr lang="it-IT" sz="2200" dirty="0"/>
              <a:t>, che permettono scambi di nutrienti e gas tra madre e feto</a:t>
            </a:r>
          </a:p>
          <a:p>
            <a:pPr marL="514350" indent="-514350">
              <a:buFont typeface="+mj-lt"/>
              <a:buAutoNum type="arabicPeriod"/>
            </a:pPr>
            <a:endParaRPr lang="it-IT" sz="2200" dirty="0"/>
          </a:p>
          <a:p>
            <a:pPr marL="514350" indent="-514350">
              <a:buFont typeface="+mj-lt"/>
              <a:buAutoNum type="arabicPeriod"/>
            </a:pPr>
            <a:r>
              <a:rPr lang="it-IT" sz="2200" dirty="0"/>
              <a:t>La placca basale (lato </a:t>
            </a:r>
            <a:r>
              <a:rPr lang="it-IT" sz="2200" b="1" dirty="0"/>
              <a:t>materno</a:t>
            </a:r>
            <a:r>
              <a:rPr lang="it-IT" sz="2200" dirty="0"/>
              <a:t>): contiene tessuto deciduale e ghiandole uterine, che forniscono nutrimento all'embrione</a:t>
            </a:r>
          </a:p>
        </p:txBody>
      </p:sp>
    </p:spTree>
    <p:extLst>
      <p:ext uri="{BB962C8B-B14F-4D97-AF65-F5344CB8AC3E}">
        <p14:creationId xmlns:p14="http://schemas.microsoft.com/office/powerpoint/2010/main" val="2858274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BB75C6C0-205A-ED97-E9D0-E0AE736D6A8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484696"/>
                <a:ext cx="10515600" cy="4175876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b="1" dirty="0"/>
                  <a:t>Monoesponenziale</a:t>
                </a:r>
                <a:r>
                  <a:rPr lang="en-US" sz="2000" dirty="0"/>
                  <a:t> </a:t>
                </a:r>
                <a:r>
                  <a:rPr lang="en-US" sz="2000" i="1" dirty="0"/>
                  <a:t>[2]</a:t>
                </a:r>
                <a:r>
                  <a:rPr lang="en-US" sz="2000" dirty="0"/>
                  <a:t>:		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p>
                      <m:sSup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𝑏𝐷</m:t>
                        </m:r>
                      </m:sup>
                    </m:sSup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r>
                  <a:rPr lang="en-US" sz="2000" b="1" dirty="0"/>
                  <a:t>IVIM</a:t>
                </a:r>
                <a:r>
                  <a:rPr lang="en-US" sz="2000" dirty="0"/>
                  <a:t> </a:t>
                </a:r>
                <a:r>
                  <a:rPr lang="en-US" sz="2000" i="1" dirty="0"/>
                  <a:t>[6]</a:t>
                </a:r>
                <a:r>
                  <a:rPr lang="en-US" sz="2000" dirty="0"/>
                  <a:t>: 		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sSup>
                          <m:sSup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p>
                              <m:sSupPr>
                                <m:ctrlPr>
                                  <a:rPr lang="it-IT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p>
                                <m:r>
                                  <a:rPr lang="it-IT" sz="2000" i="1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sup>
                        </m:s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+(1−</m:t>
                        </m:r>
                        <m:r>
                          <a:rPr lang="it-IT" sz="200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it-IT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it-IT" sz="2000" i="1">
                                <a:latin typeface="Cambria Math" panose="02040503050406030204" pitchFamily="18" charset="0"/>
                              </a:rPr>
                              <m:t>𝑏𝐷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endParaRPr lang="en-US" sz="2000" dirty="0"/>
              </a:p>
              <a:p>
                <a:pPr>
                  <a:lnSpc>
                    <a:spcPct val="150000"/>
                  </a:lnSpc>
                </a:pPr>
                <a:r>
                  <a:rPr lang="en-US" sz="2000" b="1" dirty="0"/>
                  <a:t>Two-compartment perfusion </a:t>
                </a:r>
                <a:r>
                  <a:rPr lang="en-GB" sz="2000" i="1" dirty="0">
                    <a:effectLst/>
                    <a:latin typeface="CMR12"/>
                  </a:rPr>
                  <a:t>[1]</a:t>
                </a:r>
                <a:r>
                  <a:rPr lang="en-US" sz="2000" dirty="0"/>
                  <a:t>: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it-IT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it-IT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2000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  <m:sup>
                                      <m:r>
                                        <a:rPr lang="it-IT" sz="2000" i="1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it-IT" sz="20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+(1−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it-IT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it-IT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it-IT" sz="2000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it-IT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sz="2000" b="1" i="1" dirty="0"/>
                  <a:t>b</a:t>
                </a:r>
                <a:r>
                  <a:rPr lang="en-US" sz="2000" b="1" dirty="0"/>
                  <a:t>-value</a:t>
                </a:r>
                <a:r>
                  <a:rPr lang="en-US" sz="2000" dirty="0"/>
                  <a:t>: </a:t>
                </a:r>
                <a:r>
                  <a:rPr lang="it-IT" sz="2000" dirty="0"/>
                  <a:t>quantifica il grado di sensibilità di una sequenza di imaging alla diffusione delle molecole d'acqua nel tessuto; è definito come: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it-IT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p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>
                        <a:latin typeface="Cambria Math" panose="02040503050406030204" pitchFamily="18" charset="0"/>
                      </a:rPr>
                      <m:t>𝛥</m:t>
                    </m:r>
                  </m:oMath>
                </a14:m>
                <a:r>
                  <a:rPr lang="en-US" sz="2000" i="1" dirty="0"/>
                  <a:t>-</a:t>
                </a:r>
                <a:r>
                  <a:rPr lang="it-IT" sz="2000" dirty="0"/>
                  <a:t> </a:t>
                </a:r>
                <a14:m>
                  <m:oMath xmlns:m="http://schemas.openxmlformats.org/officeDocument/2006/math">
                    <m:r>
                      <a:rPr lang="it-IT" sz="2000" b="0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i="1" dirty="0"/>
                  <a:t>/3)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BB75C6C0-205A-ED97-E9D0-E0AE736D6A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484696"/>
                <a:ext cx="10515600" cy="4175876"/>
              </a:xfrm>
              <a:blipFill>
                <a:blip r:embed="rId2"/>
                <a:stretch>
                  <a:fillRect l="-603" t="-2128" r="-24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5" descr="Fondino">
            <a:extLst>
              <a:ext uri="{FF2B5EF4-FFF2-40B4-BE49-F238E27FC236}">
                <a16:creationId xmlns:a16="http://schemas.microsoft.com/office/drawing/2014/main" id="{C15FE046-4405-FC47-0707-D939B8C01B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B15CB0FA-4EEC-E1ED-51D9-3FBE92F9309B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Modelli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FEDFAEAE-4B7A-2330-DEEF-D5DF17ADE0BC}"/>
              </a:ext>
            </a:extLst>
          </p:cNvPr>
          <p:cNvSpPr txBox="1"/>
          <p:nvPr/>
        </p:nvSpPr>
        <p:spPr>
          <a:xfrm>
            <a:off x="4484915" y="5583628"/>
            <a:ext cx="8273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Ampiezza gradiente di diffusione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A4126D3-0781-67BC-FD34-3C1D113161C3}"/>
              </a:ext>
            </a:extLst>
          </p:cNvPr>
          <p:cNvSpPr txBox="1"/>
          <p:nvPr/>
        </p:nvSpPr>
        <p:spPr>
          <a:xfrm>
            <a:off x="6836228" y="5660572"/>
            <a:ext cx="1839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Tempo di separazione tra i gradienti di diffusione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C5873CAA-BEC0-B2F1-A0F2-6D2F5C223984}"/>
              </a:ext>
            </a:extLst>
          </p:cNvPr>
          <p:cNvSpPr txBox="1"/>
          <p:nvPr/>
        </p:nvSpPr>
        <p:spPr>
          <a:xfrm>
            <a:off x="5682342" y="5564825"/>
            <a:ext cx="8273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Durata gradiente di diffusione</a:t>
            </a:r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75DCF5D5-6168-C6EE-CCE0-9CE903DB0DC6}"/>
              </a:ext>
            </a:extLst>
          </p:cNvPr>
          <p:cNvCxnSpPr>
            <a:cxnSpLocks/>
          </p:cNvCxnSpPr>
          <p:nvPr/>
        </p:nvCxnSpPr>
        <p:spPr>
          <a:xfrm flipV="1">
            <a:off x="5110842" y="5323902"/>
            <a:ext cx="653854" cy="390261"/>
          </a:xfrm>
          <a:prstGeom prst="straightConnector1">
            <a:avLst/>
          </a:prstGeom>
          <a:ln>
            <a:solidFill>
              <a:srgbClr val="822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CFFAEB00-9886-F67D-EEAB-CC08BB0938BF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6096000" y="5323902"/>
            <a:ext cx="25203" cy="240923"/>
          </a:xfrm>
          <a:prstGeom prst="straightConnector1">
            <a:avLst/>
          </a:prstGeom>
          <a:ln>
            <a:solidFill>
              <a:srgbClr val="822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91CA2D2B-74EC-A086-38BA-D4CC711E7A14}"/>
              </a:ext>
            </a:extLst>
          </p:cNvPr>
          <p:cNvCxnSpPr>
            <a:cxnSpLocks/>
          </p:cNvCxnSpPr>
          <p:nvPr/>
        </p:nvCxnSpPr>
        <p:spPr>
          <a:xfrm flipH="1" flipV="1">
            <a:off x="6509657" y="5333304"/>
            <a:ext cx="699526" cy="378311"/>
          </a:xfrm>
          <a:prstGeom prst="straightConnector1">
            <a:avLst/>
          </a:prstGeom>
          <a:ln>
            <a:solidFill>
              <a:srgbClr val="82233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93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6D8C2CC0-19CA-B5C6-6138-871880C8B29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502542"/>
                <a:ext cx="105156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it-IT" sz="2200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it-IT" sz="2200" b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200" b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200" dirty="0"/>
                  <a:t> contributo combinato di diversi compartimenti di perfusione nella placenta, ∊ [0,1]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it-IT" sz="2200" b="1" dirty="0"/>
                  <a:t> </a:t>
                </a:r>
                <a14:m>
                  <m:oMath xmlns:m="http://schemas.openxmlformats.org/officeDocument/2006/math">
                    <m:r>
                      <a:rPr lang="it-IT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200" dirty="0"/>
                  <a:t> frazione di perfusione relativa al compartimento più veloce; corrisponde al sangue che scorre all'interno dei micro vasi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2200" b="1" dirty="0"/>
                  <a:t> </a:t>
                </a:r>
                <a14:m>
                  <m:oMath xmlns:m="http://schemas.openxmlformats.org/officeDocument/2006/math">
                    <m:r>
                      <a:rPr lang="it-IT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200" dirty="0"/>
                  <a:t> relativa al compartimento più lento, corrisponde allo scambio di nutrienti tra i compartimenti materno e fetale</a:t>
                </a:r>
              </a:p>
              <a:p>
                <a:pPr>
                  <a:lnSpc>
                    <a:spcPct val="110000"/>
                  </a:lnSpc>
                </a:pPr>
                <a:endParaRPr lang="en-US" sz="2200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it-IT" sz="2200" b="1" i="1" smtClean="0">
                        <a:latin typeface="Cambria Math" panose="02040503050406030204" pitchFamily="18" charset="0"/>
                      </a:rPr>
                      <m:t>𝑫</m:t>
                    </m:r>
                  </m:oMath>
                </a14:m>
                <a:r>
                  <a:rPr lang="it-IT" sz="2200" dirty="0"/>
                  <a:t> </a:t>
                </a:r>
                <a14:m>
                  <m:oMath xmlns:m="http://schemas.openxmlformats.org/officeDocument/2006/math">
                    <m:r>
                      <a:rPr lang="it-IT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200" dirty="0"/>
                  <a:t> relativo al sangue materno che scorre all'interno dell’</a:t>
                </a:r>
                <a:r>
                  <a:rPr lang="en-GB" sz="2200" i="1" dirty="0"/>
                  <a:t>intervillous space, </a:t>
                </a:r>
                <a:r>
                  <a:rPr lang="en-GB" sz="2200" dirty="0"/>
                  <a:t>[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it-IT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it-IT" sz="22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GB" sz="2200" dirty="0"/>
                  <a:t>]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sz="2200" b="1" dirty="0"/>
                  <a:t> </a:t>
                </a:r>
                <a14:m>
                  <m:oMath xmlns:m="http://schemas.openxmlformats.org/officeDocument/2006/math">
                    <m:r>
                      <a:rPr lang="it-IT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it-IT" sz="2200" dirty="0"/>
                  <a:t> coefficiente “più rapido” dato dal sangue che scorre all'interno dei micro vasi</a:t>
                </a:r>
                <a:endParaRPr lang="en-US" sz="2200" dirty="0"/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  <m:sup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it-IT" sz="2200" b="1" dirty="0"/>
                  <a:t> </a:t>
                </a:r>
                <a14:m>
                  <m:oMath xmlns:m="http://schemas.openxmlformats.org/officeDocument/2006/math">
                    <m:r>
                      <a:rPr lang="it-IT" sz="220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200" dirty="0"/>
                  <a:t> </a:t>
                </a:r>
                <a:r>
                  <a:rPr lang="it-IT" sz="2200" dirty="0"/>
                  <a:t>coefficiente “più lento” dato dallo scambio di nutrienti tra compartimento materno e fetale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p>
                        <m:r>
                          <a:rPr lang="it-IT" sz="22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sz="2200" dirty="0">
                    <a:sym typeface="Wingdings" pitchFamily="2" charset="2"/>
                  </a:rPr>
                  <a:t> </a:t>
                </a:r>
                <a:r>
                  <a:rPr lang="it-IT" sz="2200" dirty="0">
                    <a:sym typeface="Wingdings" pitchFamily="2" charset="2"/>
                  </a:rPr>
                  <a:t>c</a:t>
                </a:r>
                <a:r>
                  <a:rPr lang="it-IT" sz="2200" dirty="0"/>
                  <a:t>oefficiente di pseudodiffusione: rappresenta l'effetto combinato delle diverse velocità di perfusione nei tessuti.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6D8C2CC0-19CA-B5C6-6138-871880C8B2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502542"/>
                <a:ext cx="10515600" cy="4351338"/>
              </a:xfrm>
              <a:blipFill>
                <a:blip r:embed="rId2"/>
                <a:stretch>
                  <a:fillRect l="-603" t="-875" b="-233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5" descr="Fondino">
            <a:extLst>
              <a:ext uri="{FF2B5EF4-FFF2-40B4-BE49-F238E27FC236}">
                <a16:creationId xmlns:a16="http://schemas.microsoft.com/office/drawing/2014/main" id="{D68DECE8-4974-B901-5489-3A8AC3153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olo 1">
            <a:extLst>
              <a:ext uri="{FF2B5EF4-FFF2-40B4-BE49-F238E27FC236}">
                <a16:creationId xmlns:a16="http://schemas.microsoft.com/office/drawing/2014/main" id="{4488E1D4-5D90-E823-1851-A4157483083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Parametri da stimare</a:t>
            </a:r>
          </a:p>
        </p:txBody>
      </p:sp>
    </p:spTree>
    <p:extLst>
      <p:ext uri="{BB962C8B-B14F-4D97-AF65-F5344CB8AC3E}">
        <p14:creationId xmlns:p14="http://schemas.microsoft.com/office/powerpoint/2010/main" val="3382336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73BB6472-DC97-DC68-0738-F13659F34BA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548768" y="1329192"/>
                <a:ext cx="6929718" cy="1946377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it-IT" sz="2000" b="1" dirty="0"/>
                  <a:t>15 placente acquisite a 1.5</a:t>
                </a:r>
                <a:r>
                  <a:rPr lang="it-IT" sz="2000" b="1" i="1" dirty="0"/>
                  <a:t>T</a:t>
                </a:r>
                <a:endParaRPr lang="it-IT" sz="2000" b="1" dirty="0"/>
              </a:p>
              <a:p>
                <a:r>
                  <a:rPr lang="it-IT" sz="2000" dirty="0"/>
                  <a:t>Età gestazionale media </a:t>
                </a:r>
                <a14:m>
                  <m:oMath xmlns:m="http://schemas.openxmlformats.org/officeDocument/2006/math"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𝐺𝐴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25.5±5.1</m:t>
                        </m:r>
                      </m:e>
                    </m:d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𝑤𝑒𝑒𝑘𝑠</m:t>
                    </m:r>
                  </m:oMath>
                </a14:m>
                <a:r>
                  <a:rPr lang="it-IT" sz="2000" dirty="0"/>
                  <a:t>. </a:t>
                </a:r>
                <a:endParaRPr lang="it-IT" sz="2000" i="1" dirty="0">
                  <a:latin typeface="Cambria Math" panose="02040503050406030204" pitchFamily="18" charset="0"/>
                </a:endParaRPr>
              </a:p>
              <a:p>
                <a:r>
                  <a:rPr lang="it-IT" sz="2000" dirty="0"/>
                  <a:t>Sequenza </a:t>
                </a:r>
                <a:r>
                  <a:rPr lang="it-IT" sz="2000" i="1" dirty="0"/>
                  <a:t>SPIN-ECHO </a:t>
                </a:r>
                <a:r>
                  <a:rPr lang="it-IT" sz="2000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it-IT" sz="2000" b="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=3900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it-IT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74.8 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it-IT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t-IT" sz="2000" dirty="0"/>
                  <a:t> </a:t>
                </a:r>
              </a:p>
              <a:p>
                <a:r>
                  <a:rPr lang="it-IT" sz="2000" dirty="0"/>
                  <a:t>18÷30 slices acquisite a seconda della size </a:t>
                </a:r>
              </a:p>
              <a:p>
                <a:r>
                  <a:rPr lang="en-AU" sz="2000" dirty="0"/>
                  <a:t>Total signal averages </a:t>
                </a:r>
                <a:r>
                  <a:rPr lang="it-IT" sz="2000" dirty="0"/>
                  <a:t>NS = 4</a:t>
                </a:r>
              </a:p>
              <a:p>
                <a:endParaRPr lang="it-IT" sz="2000" dirty="0"/>
              </a:p>
              <a:p>
                <a:endParaRPr lang="it-IT" sz="2000" dirty="0"/>
              </a:p>
              <a:p>
                <a:pPr marL="0" indent="0">
                  <a:buNone/>
                </a:pPr>
                <a:endParaRPr lang="it-IT" sz="2000" dirty="0"/>
              </a:p>
              <a:p>
                <a:endParaRPr lang="it-IT" sz="2000" dirty="0"/>
              </a:p>
            </p:txBody>
          </p:sp>
        </mc:Choice>
        <mc:Fallback xmlns="">
          <p:sp>
            <p:nvSpPr>
              <p:cNvPr id="3" name="Segnaposto testo 2">
                <a:extLst>
                  <a:ext uri="{FF2B5EF4-FFF2-40B4-BE49-F238E27FC236}">
                    <a16:creationId xmlns:a16="http://schemas.microsoft.com/office/drawing/2014/main" id="{73BB6472-DC97-DC68-0738-F13659F34B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548768" y="1329192"/>
                <a:ext cx="6929718" cy="1946377"/>
              </a:xfrm>
              <a:blipFill>
                <a:blip r:embed="rId2"/>
                <a:stretch>
                  <a:fillRect l="-916" t="-3896" b="-714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olo 1">
            <a:extLst>
              <a:ext uri="{FF2B5EF4-FFF2-40B4-BE49-F238E27FC236}">
                <a16:creationId xmlns:a16="http://schemas.microsoft.com/office/drawing/2014/main" id="{E3E81021-E35C-6EE0-9AA1-65B5612A9157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Dati a disposizione</a:t>
            </a:r>
          </a:p>
        </p:txBody>
      </p:sp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4B0C4AD8-02DE-9D3E-C5D0-E35355B02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Segnaposto testo 2">
                <a:extLst>
                  <a:ext uri="{FF2B5EF4-FFF2-40B4-BE49-F238E27FC236}">
                    <a16:creationId xmlns:a16="http://schemas.microsoft.com/office/drawing/2014/main" id="{7246ACA5-0911-0B61-72E3-DB659C7928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8768" y="4023427"/>
                <a:ext cx="6929718" cy="202111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it-IT" sz="2000" b="1" dirty="0"/>
                  <a:t>7 placente acquisite a 3</a:t>
                </a:r>
                <a:r>
                  <a:rPr lang="it-IT" sz="2000" b="1" i="1" dirty="0"/>
                  <a:t>T</a:t>
                </a:r>
              </a:p>
              <a:p>
                <a:r>
                  <a:rPr lang="it-IT" sz="2000" dirty="0"/>
                  <a:t>Età gestazionale media </a:t>
                </a:r>
                <a14:m>
                  <m:oMath xmlns:m="http://schemas.openxmlformats.org/officeDocument/2006/math">
                    <m:r>
                      <a:rPr lang="it-IT" sz="2000" i="1" smtClean="0">
                        <a:latin typeface="Cambria Math" panose="02040503050406030204" pitchFamily="18" charset="0"/>
                      </a:rPr>
                      <m:t>𝐺𝐴</m:t>
                    </m:r>
                    <m:r>
                      <a:rPr lang="it-IT" sz="20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it-IT" sz="20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2000" i="1" smtClean="0">
                            <a:latin typeface="Cambria Math" panose="02040503050406030204" pitchFamily="18" charset="0"/>
                          </a:rPr>
                          <m:t>26.3±4.0</m:t>
                        </m:r>
                      </m:e>
                    </m:d>
                    <m:r>
                      <a:rPr lang="it-IT" sz="20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000" i="1" smtClean="0">
                        <a:latin typeface="Cambria Math" panose="02040503050406030204" pitchFamily="18" charset="0"/>
                      </a:rPr>
                      <m:t>𝑤𝑒𝑒𝑘𝑠</m:t>
                    </m:r>
                  </m:oMath>
                </a14:m>
                <a:endParaRPr lang="it-IT" sz="2000" i="1" dirty="0">
                  <a:latin typeface="Cambria Math" panose="02040503050406030204" pitchFamily="18" charset="0"/>
                </a:endParaRPr>
              </a:p>
              <a:p>
                <a:r>
                  <a:rPr lang="it-IT" sz="2000" dirty="0"/>
                  <a:t>Sequenza </a:t>
                </a:r>
                <a:r>
                  <a:rPr lang="it-IT" sz="2000" i="1" dirty="0"/>
                  <a:t>SPIN-ECHO </a:t>
                </a:r>
                <a:r>
                  <a:rPr lang="it-IT" sz="2000" dirty="0"/>
                  <a:t>con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300 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it-IT" sz="2000" dirty="0"/>
                  <a:t>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4</m:t>
                    </m:r>
                    <m:r>
                      <a:rPr lang="it-IT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2000" i="1">
                        <a:latin typeface="Cambria Math" panose="02040503050406030204" pitchFamily="18" charset="0"/>
                      </a:rPr>
                      <m:t>𝑚𝑠</m:t>
                    </m:r>
                    <m:r>
                      <a:rPr lang="it-IT" sz="20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it-IT" sz="2000" dirty="0"/>
                  <a:t> </a:t>
                </a:r>
              </a:p>
              <a:p>
                <a:r>
                  <a:rPr lang="it-IT" sz="2000" dirty="0"/>
                  <a:t>18÷30 slices acquisite a seconda della size </a:t>
                </a:r>
              </a:p>
              <a:p>
                <a:r>
                  <a:rPr lang="en-AU" sz="2000" dirty="0"/>
                  <a:t>Total signal averages </a:t>
                </a:r>
                <a:r>
                  <a:rPr lang="it-IT" sz="2000" dirty="0"/>
                  <a:t>NS = 2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it-IT" sz="2000" dirty="0"/>
              </a:p>
              <a:p>
                <a:endParaRPr lang="it-IT" sz="2000" dirty="0"/>
              </a:p>
            </p:txBody>
          </p:sp>
        </mc:Choice>
        <mc:Fallback xmlns="">
          <p:sp>
            <p:nvSpPr>
              <p:cNvPr id="6" name="Segnaposto testo 2">
                <a:extLst>
                  <a:ext uri="{FF2B5EF4-FFF2-40B4-BE49-F238E27FC236}">
                    <a16:creationId xmlns:a16="http://schemas.microsoft.com/office/drawing/2014/main" id="{7246ACA5-0911-0B61-72E3-DB659C792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68" y="4023427"/>
                <a:ext cx="6929718" cy="2021114"/>
              </a:xfrm>
              <a:prstGeom prst="rect">
                <a:avLst/>
              </a:prstGeom>
              <a:blipFill>
                <a:blip r:embed="rId4"/>
                <a:stretch>
                  <a:fillRect l="-916" t="-3106" b="-248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magine 7">
            <a:extLst>
              <a:ext uri="{FF2B5EF4-FFF2-40B4-BE49-F238E27FC236}">
                <a16:creationId xmlns:a16="http://schemas.microsoft.com/office/drawing/2014/main" id="{B3587EEB-803F-E842-77B0-C48A256777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657" y="4104860"/>
            <a:ext cx="1929012" cy="202111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94F2F5BB-AA0C-C53E-4424-B4E7B9CBE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657" y="1377537"/>
            <a:ext cx="1929012" cy="1814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F08613F-9EF6-B86F-F52B-E5E6F541A419}"/>
                  </a:ext>
                </a:extLst>
              </p:cNvPr>
              <p:cNvSpPr txBox="1"/>
              <p:nvPr/>
            </p:nvSpPr>
            <p:spPr>
              <a:xfrm>
                <a:off x="10032147" y="1884214"/>
                <a:ext cx="1861457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Esempio di acquisizione a 1.5</a:t>
                </a:r>
                <a:r>
                  <a:rPr lang="it-IT" sz="1600" i="1" dirty="0"/>
                  <a:t>T</a:t>
                </a:r>
              </a:p>
              <a:p>
                <a:r>
                  <a:rPr lang="en-AU" sz="1600" dirty="0"/>
                  <a:t>(</a:t>
                </a:r>
                <a:r>
                  <a:rPr lang="en-AU" sz="1600" i="1" dirty="0"/>
                  <a:t>b</a:t>
                </a:r>
                <a:r>
                  <a:rPr lang="it-IT" sz="1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200 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600" dirty="0"/>
                  <a:t>)</a:t>
                </a:r>
              </a:p>
              <a:p>
                <a:endParaRPr lang="it-IT" sz="1600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5F08613F-9EF6-B86F-F52B-E5E6F541A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147" y="1884214"/>
                <a:ext cx="1861457" cy="1077218"/>
              </a:xfrm>
              <a:prstGeom prst="rect">
                <a:avLst/>
              </a:prstGeom>
              <a:blipFill>
                <a:blip r:embed="rId7"/>
                <a:stretch>
                  <a:fillRect l="-2041" t="-232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BE61DD49-A0E5-B4C0-2881-2BB926BF8CB4}"/>
                  </a:ext>
                </a:extLst>
              </p:cNvPr>
              <p:cNvSpPr txBox="1"/>
              <p:nvPr/>
            </p:nvSpPr>
            <p:spPr>
              <a:xfrm>
                <a:off x="10032147" y="4787314"/>
                <a:ext cx="174619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Esempio di acquisizione a 3</a:t>
                </a:r>
                <a:r>
                  <a:rPr lang="it-IT" sz="1600" i="1" dirty="0"/>
                  <a:t>T</a:t>
                </a:r>
              </a:p>
              <a:p>
                <a:r>
                  <a:rPr lang="en-AU" sz="1600" dirty="0"/>
                  <a:t>(</a:t>
                </a:r>
                <a:r>
                  <a:rPr lang="en-AU" sz="1600" i="1" dirty="0"/>
                  <a:t>b</a:t>
                </a:r>
                <a:r>
                  <a:rPr lang="it-IT" sz="1600" dirty="0"/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200 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600" dirty="0"/>
                  <a:t>)</a:t>
                </a:r>
              </a:p>
            </p:txBody>
          </p:sp>
        </mc:Choice>
        <mc:Fallback xmlns="">
          <p:sp>
            <p:nvSpPr>
              <p:cNvPr id="12" name="CasellaDiTesto 11">
                <a:extLst>
                  <a:ext uri="{FF2B5EF4-FFF2-40B4-BE49-F238E27FC236}">
                    <a16:creationId xmlns:a16="http://schemas.microsoft.com/office/drawing/2014/main" id="{BE61DD49-A0E5-B4C0-2881-2BB926BF8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32147" y="4787314"/>
                <a:ext cx="1746196" cy="830997"/>
              </a:xfrm>
              <a:prstGeom prst="rect">
                <a:avLst/>
              </a:prstGeom>
              <a:blipFill>
                <a:blip r:embed="rId8"/>
                <a:stretch>
                  <a:fillRect l="-2174" t="-1493" b="-895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626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FB680-2FAA-7591-9015-C672478E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Segmentazione placente</a:t>
            </a:r>
          </a:p>
        </p:txBody>
      </p:sp>
      <p:pic>
        <p:nvPicPr>
          <p:cNvPr id="6" name="Picture 15" descr="Fondino">
            <a:extLst>
              <a:ext uri="{FF2B5EF4-FFF2-40B4-BE49-F238E27FC236}">
                <a16:creationId xmlns:a16="http://schemas.microsoft.com/office/drawing/2014/main" id="{7930A3F0-A695-64FF-C4C0-8D232DF9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C250FCC3-C449-49FB-1212-56BBC8B019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401" y="1599046"/>
            <a:ext cx="2123256" cy="185898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0A6634DB-92BF-2257-26AF-38ABB10E6F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0401" y="4213000"/>
            <a:ext cx="2092887" cy="1782830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C2B06786-C7BE-4EA3-0287-6F97A8F6F6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196" y="4268049"/>
            <a:ext cx="2092887" cy="1784179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16133DC0-309E-F482-E14F-3180E5FF42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5971" y="1599045"/>
            <a:ext cx="2118112" cy="1953247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2AADC2A1-9219-F486-5394-73B245C59EDF}"/>
              </a:ext>
            </a:extLst>
          </p:cNvPr>
          <p:cNvSpPr txBox="1"/>
          <p:nvPr/>
        </p:nvSpPr>
        <p:spPr>
          <a:xfrm>
            <a:off x="2192169" y="1229713"/>
            <a:ext cx="2260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FE00"/>
                </a:solidFill>
                <a:highlight>
                  <a:srgbClr val="C0C0C0"/>
                </a:highlight>
              </a:rPr>
              <a:t>Full placenta </a:t>
            </a:r>
            <a:r>
              <a:rPr lang="it-IT" dirty="0">
                <a:highlight>
                  <a:srgbClr val="C0C0C0"/>
                </a:highlight>
              </a:rPr>
              <a:t>– 1.5</a:t>
            </a:r>
            <a:r>
              <a:rPr lang="it-IT" i="1" dirty="0">
                <a:highlight>
                  <a:srgbClr val="C0C0C0"/>
                </a:highlight>
              </a:rPr>
              <a:t>T</a:t>
            </a:r>
            <a:endParaRPr lang="it-IT" dirty="0">
              <a:highlight>
                <a:srgbClr val="C0C0C0"/>
              </a:highlight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DCAE52FF-E398-8D0D-845E-E1A99269B666}"/>
              </a:ext>
            </a:extLst>
          </p:cNvPr>
          <p:cNvSpPr txBox="1"/>
          <p:nvPr/>
        </p:nvSpPr>
        <p:spPr>
          <a:xfrm>
            <a:off x="6298591" y="1229713"/>
            <a:ext cx="401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D00"/>
                </a:solidFill>
                <a:highlight>
                  <a:srgbClr val="C0C0C0"/>
                </a:highlight>
              </a:rPr>
              <a:t>Fetal</a:t>
            </a:r>
            <a:r>
              <a:rPr lang="en-GB" dirty="0">
                <a:highlight>
                  <a:srgbClr val="C0C0C0"/>
                </a:highlight>
              </a:rPr>
              <a:t>, </a:t>
            </a:r>
            <a:r>
              <a:rPr lang="en-GB" dirty="0">
                <a:solidFill>
                  <a:srgbClr val="0000FE"/>
                </a:solidFill>
                <a:highlight>
                  <a:srgbClr val="C0C0C0"/>
                </a:highlight>
              </a:rPr>
              <a:t>maternal</a:t>
            </a:r>
            <a:r>
              <a:rPr lang="en-GB" dirty="0">
                <a:highlight>
                  <a:srgbClr val="C0C0C0"/>
                </a:highlight>
              </a:rPr>
              <a:t> &amp; </a:t>
            </a:r>
            <a:r>
              <a:rPr lang="en-GB" dirty="0">
                <a:solidFill>
                  <a:schemeClr val="bg1"/>
                </a:solidFill>
                <a:highlight>
                  <a:srgbClr val="C0C0C0"/>
                </a:highlight>
              </a:rPr>
              <a:t>background</a:t>
            </a:r>
            <a:r>
              <a:rPr lang="en-GB" dirty="0">
                <a:highlight>
                  <a:srgbClr val="C0C0C0"/>
                </a:highlight>
              </a:rPr>
              <a:t> – 1.5</a:t>
            </a:r>
            <a:r>
              <a:rPr lang="en-GB" i="1" dirty="0">
                <a:highlight>
                  <a:srgbClr val="C0C0C0"/>
                </a:highlight>
              </a:rPr>
              <a:t>T</a:t>
            </a:r>
            <a:endParaRPr lang="en-GB" dirty="0">
              <a:highlight>
                <a:srgbClr val="C0C0C0"/>
              </a:highlight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27E8F33-0271-A537-4C2E-40F345FAD721}"/>
              </a:ext>
            </a:extLst>
          </p:cNvPr>
          <p:cNvSpPr txBox="1"/>
          <p:nvPr/>
        </p:nvSpPr>
        <p:spPr>
          <a:xfrm>
            <a:off x="2255835" y="3805589"/>
            <a:ext cx="188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>
                <a:solidFill>
                  <a:srgbClr val="00FE00"/>
                </a:solidFill>
                <a:highlight>
                  <a:srgbClr val="C0C0C0"/>
                </a:highlight>
              </a:rPr>
              <a:t>Full placenta </a:t>
            </a:r>
            <a:r>
              <a:rPr lang="it-IT" dirty="0">
                <a:highlight>
                  <a:srgbClr val="C0C0C0"/>
                </a:highlight>
              </a:rPr>
              <a:t>– 3</a:t>
            </a:r>
            <a:r>
              <a:rPr lang="it-IT" i="1" dirty="0">
                <a:highlight>
                  <a:srgbClr val="C0C0C0"/>
                </a:highlight>
              </a:rPr>
              <a:t>T</a:t>
            </a:r>
            <a:endParaRPr lang="it-IT" dirty="0">
              <a:highlight>
                <a:srgbClr val="C0C0C0"/>
              </a:highlight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D994B72-3363-516B-2AF0-CA711E92707A}"/>
              </a:ext>
            </a:extLst>
          </p:cNvPr>
          <p:cNvSpPr txBox="1"/>
          <p:nvPr/>
        </p:nvSpPr>
        <p:spPr>
          <a:xfrm>
            <a:off x="6398439" y="3860639"/>
            <a:ext cx="4015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D00"/>
                </a:solidFill>
                <a:highlight>
                  <a:srgbClr val="C0C0C0"/>
                </a:highlight>
              </a:rPr>
              <a:t>Fetal</a:t>
            </a:r>
            <a:r>
              <a:rPr lang="en-GB" dirty="0">
                <a:highlight>
                  <a:srgbClr val="C0C0C0"/>
                </a:highlight>
              </a:rPr>
              <a:t>, </a:t>
            </a:r>
            <a:r>
              <a:rPr lang="en-GB" dirty="0">
                <a:solidFill>
                  <a:srgbClr val="0000FE"/>
                </a:solidFill>
                <a:highlight>
                  <a:srgbClr val="C0C0C0"/>
                </a:highlight>
              </a:rPr>
              <a:t>maternal</a:t>
            </a:r>
            <a:r>
              <a:rPr lang="en-GB" dirty="0">
                <a:highlight>
                  <a:srgbClr val="C0C0C0"/>
                </a:highlight>
              </a:rPr>
              <a:t> &amp; </a:t>
            </a:r>
            <a:r>
              <a:rPr lang="en-GB" dirty="0">
                <a:solidFill>
                  <a:schemeClr val="bg1"/>
                </a:solidFill>
                <a:highlight>
                  <a:srgbClr val="C0C0C0"/>
                </a:highlight>
              </a:rPr>
              <a:t>background</a:t>
            </a:r>
            <a:r>
              <a:rPr lang="en-GB" dirty="0">
                <a:highlight>
                  <a:srgbClr val="C0C0C0"/>
                </a:highlight>
              </a:rPr>
              <a:t> – 3</a:t>
            </a:r>
            <a:r>
              <a:rPr lang="en-GB" i="1" dirty="0">
                <a:highlight>
                  <a:srgbClr val="C0C0C0"/>
                </a:highlight>
              </a:rPr>
              <a:t>T</a:t>
            </a:r>
            <a:endParaRPr lang="en-GB" dirty="0">
              <a:highlight>
                <a:srgbClr val="C0C0C0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16F138D-717B-FD1D-9E65-84333D33C106}"/>
                  </a:ext>
                </a:extLst>
              </p:cNvPr>
              <p:cNvSpPr txBox="1"/>
              <p:nvPr/>
            </p:nvSpPr>
            <p:spPr>
              <a:xfrm>
                <a:off x="4631011" y="5380277"/>
                <a:ext cx="2344960" cy="6155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700" dirty="0"/>
                  <a:t>Segmentazioni a </a:t>
                </a:r>
              </a:p>
              <a:p>
                <a:r>
                  <a:rPr lang="en-AU" sz="1700" i="1" dirty="0"/>
                  <a:t>b</a:t>
                </a:r>
                <a:r>
                  <a:rPr lang="en-AU" sz="1700" dirty="0"/>
                  <a:t>-value</a:t>
                </a:r>
                <a:r>
                  <a:rPr lang="it-IT" sz="1700" dirty="0"/>
                  <a:t> = 200 s</a:t>
                </a:r>
                <a14:m>
                  <m:oMath xmlns:m="http://schemas.openxmlformats.org/officeDocument/2006/math">
                    <m:r>
                      <a:rPr lang="it-IT" sz="1700" b="0" i="1" smtClean="0"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it-IT" sz="17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𝑚𝑚</m:t>
                        </m:r>
                      </m:e>
                      <m:sup>
                        <m:r>
                          <a:rPr lang="it-IT" sz="17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sz="1700" dirty="0"/>
              </a:p>
            </p:txBody>
          </p:sp>
        </mc:Choice>
        <mc:Fallback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916F138D-717B-FD1D-9E65-84333D33C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1011" y="5380277"/>
                <a:ext cx="2344960" cy="615553"/>
              </a:xfrm>
              <a:prstGeom prst="rect">
                <a:avLst/>
              </a:prstGeom>
              <a:blipFill>
                <a:blip r:embed="rId7"/>
                <a:stretch>
                  <a:fillRect l="-1613" t="-4000" b="-1000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417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4316E26-D4D4-4EEC-636C-B91E5C68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00E7C814-C667-7752-0B18-282CFD1F1F2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4500" b="1" dirty="0">
                <a:solidFill>
                  <a:srgbClr val="822433"/>
                </a:solidFill>
              </a:rPr>
              <a:t>Signal-to-Noise-Ratio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8F83815-5502-6507-460A-024DA1C13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129" y="1615184"/>
            <a:ext cx="3538256" cy="212295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C544776-19FB-048B-A9CF-1103DF3F1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615" y="1598591"/>
            <a:ext cx="3538257" cy="2122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E90BD27F-3C0D-37E7-E468-CEAA0D8F2443}"/>
                  </a:ext>
                </a:extLst>
              </p:cNvPr>
              <p:cNvSpPr txBox="1"/>
              <p:nvPr/>
            </p:nvSpPr>
            <p:spPr>
              <a:xfrm>
                <a:off x="301276" y="2415373"/>
                <a:ext cx="78827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𝑆𝑁𝑅</m:t>
                        </m:r>
                      </m:e>
                      <m:sub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rPr lang="it-IT" sz="1200" dirty="0"/>
                  <a:t> a 3T</a:t>
                </a:r>
              </a:p>
              <a:p>
                <a:r>
                  <a:rPr lang="it-IT" sz="1200" dirty="0"/>
                  <a:t>(NS = 4)</a:t>
                </a:r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E90BD27F-3C0D-37E7-E468-CEAA0D8F2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76" y="2415373"/>
                <a:ext cx="788276" cy="646331"/>
              </a:xfrm>
              <a:prstGeom prst="rect">
                <a:avLst/>
              </a:prstGeom>
              <a:blipFill>
                <a:blip r:embed="rId5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E3F1948-518F-C87B-7886-7438B2FF4C54}"/>
                  </a:ext>
                </a:extLst>
              </p:cNvPr>
              <p:cNvSpPr txBox="1"/>
              <p:nvPr/>
            </p:nvSpPr>
            <p:spPr>
              <a:xfrm>
                <a:off x="10976698" y="2402945"/>
                <a:ext cx="8710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it-IT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>
                            <a:latin typeface="Cambria Math" panose="02040503050406030204" pitchFamily="18" charset="0"/>
                          </a:rPr>
                          <m:t>𝑆𝑁𝑅</m:t>
                        </m:r>
                      </m:e>
                      <m:sub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rPr lang="it-IT" sz="1200" dirty="0"/>
                  <a:t> a 1.5T</a:t>
                </a:r>
              </a:p>
              <a:p>
                <a:r>
                  <a:rPr lang="it-IT" sz="1200" dirty="0"/>
                  <a:t>(NS = 2)</a:t>
                </a:r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E3F1948-518F-C87B-7886-7438B2FF4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76698" y="2402945"/>
                <a:ext cx="871041" cy="646331"/>
              </a:xfrm>
              <a:prstGeom prst="rect">
                <a:avLst/>
              </a:prstGeom>
              <a:blipFill>
                <a:blip r:embed="rId6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190955D-491E-C3C2-4C73-A84879442F74}"/>
                  </a:ext>
                </a:extLst>
              </p:cNvPr>
              <p:cNvSpPr txBox="1"/>
              <p:nvPr/>
            </p:nvSpPr>
            <p:spPr>
              <a:xfrm>
                <a:off x="4115777" y="2466482"/>
                <a:ext cx="3686993" cy="5086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600" i="1">
                              <a:latin typeface="Cambria Math" panose="02040503050406030204" pitchFamily="18" charset="0"/>
                            </a:rPr>
                            <m:t>𝑆𝑁𝑅</m:t>
                          </m:r>
                        </m:e>
                        <m: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𝑛𝑜𝑟𝑚</m:t>
                          </m:r>
                        </m:sub>
                      </m:sSub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𝑅𝑂𝐼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num>
                        <m:den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𝑏𝑎𝑐𝑘𝑔𝑟𝑜𝑢𝑛𝑑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it-IT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𝑁𝑆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it-IT" sz="1600" dirty="0"/>
              </a:p>
            </p:txBody>
          </p:sp>
        </mc:Choice>
        <mc:Fallback xmlns="">
          <p:sp>
            <p:nvSpPr>
              <p:cNvPr id="10" name="CasellaDiTesto 9">
                <a:extLst>
                  <a:ext uri="{FF2B5EF4-FFF2-40B4-BE49-F238E27FC236}">
                    <a16:creationId xmlns:a16="http://schemas.microsoft.com/office/drawing/2014/main" id="{1190955D-491E-C3C2-4C73-A84879442F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5777" y="2466482"/>
                <a:ext cx="3686993" cy="508665"/>
              </a:xfrm>
              <a:prstGeom prst="rect">
                <a:avLst/>
              </a:prstGeom>
              <a:blipFill>
                <a:blip r:embed="rId7"/>
                <a:stretch>
                  <a:fillRect t="-4878" b="-1707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04351406-EDF8-F516-0554-C00BE268141E}"/>
              </a:ext>
            </a:extLst>
          </p:cNvPr>
          <p:cNvSpPr txBox="1"/>
          <p:nvPr/>
        </p:nvSpPr>
        <p:spPr>
          <a:xfrm>
            <a:off x="2088535" y="1307044"/>
            <a:ext cx="80149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700" b="0" i="0" dirty="0">
                <a:effectLst/>
                <a:latin typeface="Arial" panose="020B0604020202020204" pitchFamily="34" charset="0"/>
              </a:rPr>
              <a:t>Metrica che quantifica la qualità del segnale relativamente al rumore di fondo</a:t>
            </a:r>
            <a:endParaRPr lang="it-IT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F0BCBCA-A4FC-4DC9-8D91-97D5333E2127}"/>
                  </a:ext>
                </a:extLst>
              </p:cNvPr>
              <p:cNvSpPr txBox="1"/>
              <p:nvPr/>
            </p:nvSpPr>
            <p:spPr>
              <a:xfrm>
                <a:off x="1177159" y="4633052"/>
                <a:ext cx="3436882" cy="886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br>
                  <a:rPr lang="it-IT" sz="1700" b="0" i="0" dirty="0">
                    <a:effectLst/>
                    <a:latin typeface="Arial" panose="020B0604020202020204" pitchFamily="34" charset="0"/>
                  </a:rPr>
                </a:br>
                <a:r>
                  <a:rPr lang="it-IT" sz="1700" b="0" i="0" dirty="0">
                    <a:effectLst/>
                    <a:latin typeface="Arial" panose="020B0604020202020204" pitchFamily="34" charset="0"/>
                  </a:rPr>
                  <a:t>Gain %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i="1">
                            <a:latin typeface="Cambria Math" panose="02040503050406030204" pitchFamily="18" charset="0"/>
                          </a:rPr>
                          <m:t>𝑆𝑁𝑅</m:t>
                        </m:r>
                      </m:e>
                      <m:sub>
                        <m:r>
                          <a:rPr lang="it-IT" sz="1800" b="0" i="1" smtClean="0">
                            <a:latin typeface="Cambria Math" panose="02040503050406030204" pitchFamily="18" charset="0"/>
                          </a:rPr>
                          <m:t>𝑛𝑜𝑟𝑚</m:t>
                        </m:r>
                      </m:sub>
                    </m:sSub>
                  </m:oMath>
                </a14:m>
                <a:r>
                  <a:rPr lang="it-IT" sz="1700" b="0" i="0" dirty="0">
                    <a:effectLst/>
                    <a:latin typeface="Arial" panose="020B0604020202020204" pitchFamily="34" charset="0"/>
                  </a:rPr>
                  <a:t> da 1.5</a:t>
                </a:r>
                <a:r>
                  <a:rPr lang="it-IT" sz="1700" b="0" i="1" dirty="0">
                    <a:effectLst/>
                    <a:latin typeface="Arial" panose="020B0604020202020204" pitchFamily="34" charset="0"/>
                  </a:rPr>
                  <a:t>T</a:t>
                </a:r>
                <a:r>
                  <a:rPr lang="it-IT" sz="1700" b="0" i="0" dirty="0">
                    <a:effectLst/>
                    <a:latin typeface="Arial" panose="020B0604020202020204" pitchFamily="34" charset="0"/>
                  </a:rPr>
                  <a:t> a 3</a:t>
                </a:r>
                <a:r>
                  <a:rPr lang="it-IT" sz="1700" b="0" i="1" dirty="0">
                    <a:effectLst/>
                    <a:latin typeface="Arial" panose="020B0604020202020204" pitchFamily="34" charset="0"/>
                  </a:rPr>
                  <a:t>T</a:t>
                </a:r>
                <a:r>
                  <a:rPr lang="it-IT" sz="1700" b="0" i="0" dirty="0">
                    <a:effectLst/>
                    <a:latin typeface="Arial" panose="020B0604020202020204" pitchFamily="34" charset="0"/>
                  </a:rPr>
                  <a:t>:</a:t>
                </a:r>
                <a:br>
                  <a:rPr lang="it-IT" sz="1700" dirty="0"/>
                </a:br>
                <a:endParaRPr lang="it-IT" sz="1700" dirty="0"/>
              </a:p>
            </p:txBody>
          </p:sp>
        </mc:Choice>
        <mc:Fallback xmlns="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4F0BCBCA-A4FC-4DC9-8D91-97D5333E2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7159" y="4633052"/>
                <a:ext cx="3436882" cy="886205"/>
              </a:xfrm>
              <a:prstGeom prst="rect">
                <a:avLst/>
              </a:prstGeom>
              <a:blipFill>
                <a:blip r:embed="rId8"/>
                <a:stretch>
                  <a:fillRect l="-1103" r="-735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magine 14">
            <a:extLst>
              <a:ext uri="{FF2B5EF4-FFF2-40B4-BE49-F238E27FC236}">
                <a16:creationId xmlns:a16="http://schemas.microsoft.com/office/drawing/2014/main" id="{B9C0E717-21AB-C060-2FBC-E0DFED2C06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5201" y="3867412"/>
            <a:ext cx="3821598" cy="22929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506CF5E8-42FA-F3B6-6E0A-4E86CCF035C5}"/>
                  </a:ext>
                </a:extLst>
              </p:cNvPr>
              <p:cNvSpPr txBox="1"/>
              <p:nvPr/>
            </p:nvSpPr>
            <p:spPr>
              <a:xfrm>
                <a:off x="8085702" y="4849816"/>
                <a:ext cx="3229154" cy="567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it-IT" i="1" smtClean="0">
                          <a:latin typeface="Cambria Math" panose="02040503050406030204" pitchFamily="18" charset="0"/>
                        </a:rPr>
                        <m:t>G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𝑎𝑖𝑛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it-IT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𝑆𝑁𝑅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1.5</m:t>
                              </m:r>
                              <m:r>
                                <a:rPr lang="it-IT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b>
                          </m:sSub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 100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506CF5E8-42FA-F3B6-6E0A-4E86CCF03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702" y="4849816"/>
                <a:ext cx="3229154" cy="567463"/>
              </a:xfrm>
              <a:prstGeom prst="rect">
                <a:avLst/>
              </a:prstGeom>
              <a:blipFill>
                <a:blip r:embed="rId10"/>
                <a:stretch>
                  <a:fillRect l="-1176" t="-6667" r="-1176" b="-666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ttangolo 16">
            <a:extLst>
              <a:ext uri="{FF2B5EF4-FFF2-40B4-BE49-F238E27FC236}">
                <a16:creationId xmlns:a16="http://schemas.microsoft.com/office/drawing/2014/main" id="{BDDF2070-B4A2-AC50-4EE3-4BACAECB46AC}"/>
              </a:ext>
            </a:extLst>
          </p:cNvPr>
          <p:cNvSpPr/>
          <p:nvPr/>
        </p:nvSpPr>
        <p:spPr>
          <a:xfrm>
            <a:off x="4352544" y="2339909"/>
            <a:ext cx="3361162" cy="7972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D2DE621B-C4D7-B056-40CB-D2A2C4E84A59}"/>
              </a:ext>
            </a:extLst>
          </p:cNvPr>
          <p:cNvSpPr/>
          <p:nvPr/>
        </p:nvSpPr>
        <p:spPr>
          <a:xfrm>
            <a:off x="8006799" y="4753695"/>
            <a:ext cx="3436881" cy="79726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5903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00E7C814-C667-7752-0B18-282CFD1F1F2A}"/>
              </a:ext>
            </a:extLst>
          </p:cNvPr>
          <p:cNvSpPr txBox="1">
            <a:spLocks/>
          </p:cNvSpPr>
          <p:nvPr/>
        </p:nvSpPr>
        <p:spPr>
          <a:xfrm>
            <a:off x="1928812" y="0"/>
            <a:ext cx="8682037" cy="1013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1.5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endParaRPr lang="it-IT" sz="4500" b="1" dirty="0">
              <a:solidFill>
                <a:srgbClr val="822433"/>
              </a:solidFill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9723A1C6-7CA0-30DF-EDC7-E37CB56C25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45" y="3639031"/>
            <a:ext cx="4003176" cy="3202540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30DFBC7D-C885-8DD8-0A79-EC7433BB9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6" y="704346"/>
            <a:ext cx="4003175" cy="3202540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27958CFF-EE76-3423-D716-86A0CB657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287" y="704346"/>
            <a:ext cx="4003175" cy="3202540"/>
          </a:xfrm>
          <a:prstGeom prst="rect">
            <a:avLst/>
          </a:prstGeom>
        </p:spPr>
      </p:pic>
      <p:pic>
        <p:nvPicPr>
          <p:cNvPr id="26" name="Immagine 25">
            <a:extLst>
              <a:ext uri="{FF2B5EF4-FFF2-40B4-BE49-F238E27FC236}">
                <a16:creationId xmlns:a16="http://schemas.microsoft.com/office/drawing/2014/main" id="{FEF63987-1E88-37AA-2DBE-0AE5608461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5202" y="704346"/>
            <a:ext cx="4003175" cy="320254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291000F5-A6C6-B1D5-C85B-F915B608EE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799" y="3639031"/>
            <a:ext cx="4003176" cy="3202541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0795D6D2-2E3B-845F-72F1-E9D864A737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9714" y="3655459"/>
            <a:ext cx="4003176" cy="3202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078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4316E26-D4D4-4EEC-636C-B91E5C68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00E7C814-C667-7752-0B18-282CFD1F1F2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1.5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endParaRPr lang="it-IT" sz="4500" b="1" dirty="0">
              <a:solidFill>
                <a:srgbClr val="822433"/>
              </a:solidFill>
            </a:endParaRPr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3C61DCA1-7235-9568-02CE-82CFC4879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16" y="1395760"/>
            <a:ext cx="5907211" cy="3544326"/>
          </a:xfrm>
          <a:prstGeom prst="rect">
            <a:avLst/>
          </a:prstGeom>
        </p:spPr>
      </p:pic>
      <p:pic>
        <p:nvPicPr>
          <p:cNvPr id="33" name="Immagine 32">
            <a:extLst>
              <a:ext uri="{FF2B5EF4-FFF2-40B4-BE49-F238E27FC236}">
                <a16:creationId xmlns:a16="http://schemas.microsoft.com/office/drawing/2014/main" id="{42F5CE12-6FF7-947E-1727-5BC6539AC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173" y="1395760"/>
            <a:ext cx="5907211" cy="354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635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4316E26-D4D4-4EEC-636C-B91E5C6836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00E7C814-C667-7752-0B18-282CFD1F1F2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1.5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r>
              <a:rPr lang="it-IT" sz="4500" b="1" dirty="0">
                <a:solidFill>
                  <a:srgbClr val="822433"/>
                </a:solidFill>
              </a:rPr>
              <a:t>: statistica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486003C-5D77-E8EF-B15A-5FE568373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020887"/>
            <a:ext cx="5247248" cy="141486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DB246BD3-ED59-CA35-64FA-D7979BD880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132723"/>
            <a:ext cx="5247248" cy="1561815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ECC5304-E642-E693-F46A-1147EB924C5A}"/>
              </a:ext>
            </a:extLst>
          </p:cNvPr>
          <p:cNvSpPr txBox="1"/>
          <p:nvPr/>
        </p:nvSpPr>
        <p:spPr>
          <a:xfrm>
            <a:off x="1466850" y="1484696"/>
            <a:ext cx="28994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Verifica della bontà del fit: </a:t>
            </a:r>
          </a:p>
          <a:p>
            <a:r>
              <a:rPr lang="it-IT" dirty="0"/>
              <a:t>Kolmogorov-Smirnov test </a:t>
            </a:r>
            <a:r>
              <a:rPr lang="en-AU" sz="1800" dirty="0">
                <a:effectLst/>
                <a:latin typeface="CMR12"/>
              </a:rPr>
              <a:t>[8] </a:t>
            </a:r>
            <a:endParaRPr lang="it-IT" dirty="0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FB20D64D-1C83-13FC-E879-20B7408419D6}"/>
              </a:ext>
            </a:extLst>
          </p:cNvPr>
          <p:cNvSpPr txBox="1"/>
          <p:nvPr/>
        </p:nvSpPr>
        <p:spPr>
          <a:xfrm>
            <a:off x="1405890" y="3322998"/>
            <a:ext cx="34861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Akaike information Criterion [7] per valutare quale modello “fitta’’ meglio i dati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AF6F329-11E7-4B23-A8FE-FEB6AEB26B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6850" y="5079987"/>
            <a:ext cx="2636520" cy="561481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392A503E-FBED-5AF5-EA56-DC6528455E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1964" y="5276534"/>
            <a:ext cx="2641836" cy="413087"/>
          </a:xfrm>
          <a:prstGeom prst="rect">
            <a:avLst/>
          </a:prstGeom>
        </p:spPr>
      </p:pic>
      <p:pic>
        <p:nvPicPr>
          <p:cNvPr id="19" name="Immagine 18">
            <a:extLst>
              <a:ext uri="{FF2B5EF4-FFF2-40B4-BE49-F238E27FC236}">
                <a16:creationId xmlns:a16="http://schemas.microsoft.com/office/drawing/2014/main" id="{F87E1914-25D2-995D-7BC3-44BE58BD71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7987" y="5041908"/>
            <a:ext cx="2499360" cy="68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722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">
            <a:extLst>
              <a:ext uri="{FF2B5EF4-FFF2-40B4-BE49-F238E27FC236}">
                <a16:creationId xmlns:a16="http://schemas.microsoft.com/office/drawing/2014/main" id="{A0541AE2-48ED-520C-4EA7-146ED306C8CA}"/>
              </a:ext>
            </a:extLst>
          </p:cNvPr>
          <p:cNvSpPr txBox="1">
            <a:spLocks/>
          </p:cNvSpPr>
          <p:nvPr/>
        </p:nvSpPr>
        <p:spPr>
          <a:xfrm>
            <a:off x="838200" y="0"/>
            <a:ext cx="10515600" cy="841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3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endParaRPr lang="it-IT" sz="4500" b="1" dirty="0">
              <a:solidFill>
                <a:srgbClr val="822433"/>
              </a:solidFill>
            </a:endParaRP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82ECBCBC-5F9B-F0FE-2485-51E0AE8F8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0024" y="595187"/>
            <a:ext cx="4229100" cy="338328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14A90101-62D4-349B-4EE0-95566DC157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9925"/>
            <a:ext cx="4229100" cy="3383280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CA785CF6-FFB5-3487-F574-6E6D217D1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3731897"/>
            <a:ext cx="4229099" cy="3126104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FDC566D2-DCC9-3D10-DEB3-80614AE8DD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1450" y="609925"/>
            <a:ext cx="4229100" cy="338328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4BE5CE33-3340-1E33-E57A-38C130B59C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1450" y="3731896"/>
            <a:ext cx="4229099" cy="3126104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A83181D-D6B7-509A-BD10-80500CC91D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9" y="3731896"/>
            <a:ext cx="3771891" cy="312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71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7264FBF-622F-5D2F-A330-44B451FA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A0541AE2-48ED-520C-4EA7-146ED306C8C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3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endParaRPr lang="it-IT" sz="4500" b="1" dirty="0">
              <a:solidFill>
                <a:srgbClr val="822433"/>
              </a:solidFill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C6547D54-277B-AF32-A869-8EBB9E7C7D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6717"/>
            <a:ext cx="6314338" cy="3788603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E7390064-17A1-116F-11CB-B255B70B8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661" y="1328737"/>
            <a:ext cx="6314338" cy="378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308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7264FBF-622F-5D2F-A330-44B451FA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A0541AE2-48ED-520C-4EA7-146ED306C8C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– 3</a:t>
            </a:r>
            <a:r>
              <a:rPr lang="it-IT" sz="4500" b="1" i="1" dirty="0">
                <a:solidFill>
                  <a:srgbClr val="822433"/>
                </a:solidFill>
              </a:rPr>
              <a:t>T</a:t>
            </a:r>
            <a:r>
              <a:rPr lang="it-IT" sz="4500" b="1" dirty="0">
                <a:solidFill>
                  <a:srgbClr val="822433"/>
                </a:solidFill>
              </a:rPr>
              <a:t>: statistica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1442B1B0-A411-6F51-698E-3E64F624D307}"/>
              </a:ext>
            </a:extLst>
          </p:cNvPr>
          <p:cNvSpPr txBox="1"/>
          <p:nvPr/>
        </p:nvSpPr>
        <p:spPr>
          <a:xfrm>
            <a:off x="1466850" y="1727511"/>
            <a:ext cx="2899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Kolmogorov-Smirnov test: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9AF3263-0303-F379-7A92-BDBA9736C395}"/>
              </a:ext>
            </a:extLst>
          </p:cNvPr>
          <p:cNvSpPr txBox="1"/>
          <p:nvPr/>
        </p:nvSpPr>
        <p:spPr>
          <a:xfrm>
            <a:off x="1466850" y="4258310"/>
            <a:ext cx="33413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Akaike information Criterion: 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C53F561-DA8B-63C5-36B0-64CFAE951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3437" y="1342898"/>
            <a:ext cx="6290363" cy="1901435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F717570A-8123-2138-FF21-00ADE6B4B7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923" y="3613665"/>
            <a:ext cx="7529684" cy="190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676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olo 1">
            <a:extLst>
              <a:ext uri="{FF2B5EF4-FFF2-40B4-BE49-F238E27FC236}">
                <a16:creationId xmlns:a16="http://schemas.microsoft.com/office/drawing/2014/main" id="{D1B4CEF2-1EAB-333A-25A9-B27406F8B86F}"/>
              </a:ext>
            </a:extLst>
          </p:cNvPr>
          <p:cNvSpPr txBox="1">
            <a:spLocks/>
          </p:cNvSpPr>
          <p:nvPr/>
        </p:nvSpPr>
        <p:spPr>
          <a:xfrm>
            <a:off x="1409767" y="-82218"/>
            <a:ext cx="9372465" cy="1034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000" b="1" dirty="0">
                <a:solidFill>
                  <a:srgbClr val="822433"/>
                </a:solidFill>
              </a:rPr>
              <a:t>Correlazione: parametri-</a:t>
            </a:r>
            <a:r>
              <a:rPr lang="it-IT" sz="4000" b="1" i="1" dirty="0">
                <a:solidFill>
                  <a:srgbClr val="822433"/>
                </a:solidFill>
              </a:rPr>
              <a:t>GA</a:t>
            </a:r>
          </a:p>
        </p:txBody>
      </p:sp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5049E8F0-C3CE-B388-B628-ABEC6DBC0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3D99573-C1FE-341B-50FE-B4018439C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427" y="4233257"/>
            <a:ext cx="3574431" cy="1679216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2F12CB8-F7D1-1346-3273-A35225A394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640" y="699499"/>
            <a:ext cx="3200004" cy="3269268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6DF8FBCE-85BE-27C5-DBA7-8AF0658B3E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483" y="4233257"/>
            <a:ext cx="4843517" cy="1679216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1F926AE2-C70C-4DC6-DFA1-CC27EE0126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8672" y="699499"/>
            <a:ext cx="3341688" cy="3269268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70050AAA-610E-4848-2322-882153278E64}"/>
              </a:ext>
            </a:extLst>
          </p:cNvPr>
          <p:cNvSpPr txBox="1"/>
          <p:nvPr/>
        </p:nvSpPr>
        <p:spPr>
          <a:xfrm>
            <a:off x="1981335" y="493295"/>
            <a:ext cx="545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1.5</a:t>
            </a:r>
            <a:r>
              <a:rPr lang="it-IT" sz="1200" i="1" dirty="0"/>
              <a:t>T</a:t>
            </a:r>
            <a:endParaRPr lang="it-IT" sz="1200" dirty="0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289FEE54-41C5-B95E-642A-7254926ED912}"/>
              </a:ext>
            </a:extLst>
          </p:cNvPr>
          <p:cNvSpPr txBox="1"/>
          <p:nvPr/>
        </p:nvSpPr>
        <p:spPr>
          <a:xfrm>
            <a:off x="9758211" y="435819"/>
            <a:ext cx="5452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i="1" dirty="0"/>
              <a:t>3T</a:t>
            </a:r>
            <a:endParaRPr lang="it-IT" sz="1200" dirty="0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4A0E3DD8-FBAC-BECE-DA47-2645F20EB293}"/>
              </a:ext>
            </a:extLst>
          </p:cNvPr>
          <p:cNvSpPr txBox="1"/>
          <p:nvPr/>
        </p:nvSpPr>
        <p:spPr>
          <a:xfrm>
            <a:off x="4038205" y="2201779"/>
            <a:ext cx="20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1.5T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B0665F6D-DD60-49FB-9505-C43A582F5012}"/>
              </a:ext>
            </a:extLst>
          </p:cNvPr>
          <p:cNvSpPr txBox="1"/>
          <p:nvPr/>
        </p:nvSpPr>
        <p:spPr>
          <a:xfrm>
            <a:off x="6096000" y="2201779"/>
            <a:ext cx="205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/>
              <a:t>3T</a:t>
            </a: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41D6D269-531E-836C-1BB0-5866C8D5BBBA}"/>
              </a:ext>
            </a:extLst>
          </p:cNvPr>
          <p:cNvCxnSpPr>
            <a:cxnSpLocks/>
          </p:cNvCxnSpPr>
          <p:nvPr/>
        </p:nvCxnSpPr>
        <p:spPr>
          <a:xfrm>
            <a:off x="6096000" y="2201779"/>
            <a:ext cx="0" cy="3850105"/>
          </a:xfrm>
          <a:prstGeom prst="line">
            <a:avLst/>
          </a:prstGeom>
          <a:ln w="9525">
            <a:solidFill>
              <a:srgbClr val="822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0CEAB37-9E98-7EEA-0B8A-E89DA1CF9E47}"/>
              </a:ext>
            </a:extLst>
          </p:cNvPr>
          <p:cNvSpPr txBox="1"/>
          <p:nvPr/>
        </p:nvSpPr>
        <p:spPr>
          <a:xfrm>
            <a:off x="3896520" y="2726357"/>
            <a:ext cx="21101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i="1" dirty="0"/>
              <a:t>D</a:t>
            </a:r>
            <a:r>
              <a:rPr lang="it-IT" sz="1600" dirty="0"/>
              <a:t>:  </a:t>
            </a:r>
            <a:r>
              <a:rPr lang="it-IT" sz="1600" dirty="0">
                <a:effectLst/>
                <a:latin typeface="CMBX12"/>
              </a:rPr>
              <a:t>trend quasi-quadratico, </a:t>
            </a:r>
            <a:r>
              <a:rPr lang="it-IT" sz="1600" i="1" dirty="0">
                <a:effectLst/>
                <a:latin typeface="CMBX12"/>
              </a:rPr>
              <a:t>r </a:t>
            </a:r>
            <a:r>
              <a:rPr lang="it-IT" sz="1600" dirty="0">
                <a:effectLst/>
                <a:latin typeface="CMBX12"/>
              </a:rPr>
              <a:t>=-0.49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CMBX1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effectLst/>
                <a:latin typeface="CMBX12"/>
              </a:rPr>
              <a:t> Correlazioni deboli per gli altri parametri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sp>
        <p:nvSpPr>
          <p:cNvPr id="22" name="Titolo 1">
            <a:extLst>
              <a:ext uri="{FF2B5EF4-FFF2-40B4-BE49-F238E27FC236}">
                <a16:creationId xmlns:a16="http://schemas.microsoft.com/office/drawing/2014/main" id="{B79C18DE-A7AF-7F4C-DE94-E65BC3A1728D}"/>
              </a:ext>
            </a:extLst>
          </p:cNvPr>
          <p:cNvSpPr txBox="1">
            <a:spLocks/>
          </p:cNvSpPr>
          <p:nvPr/>
        </p:nvSpPr>
        <p:spPr>
          <a:xfrm>
            <a:off x="3674240" y="879082"/>
            <a:ext cx="4843518" cy="6143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2500" b="1" dirty="0">
                <a:solidFill>
                  <a:srgbClr val="822433"/>
                </a:solidFill>
              </a:rPr>
              <a:t>Correlazione di Pearson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5ED1DDA6-0FA7-447D-5E8C-7247126D745F}"/>
              </a:ext>
            </a:extLst>
          </p:cNvPr>
          <p:cNvSpPr txBox="1"/>
          <p:nvPr/>
        </p:nvSpPr>
        <p:spPr>
          <a:xfrm>
            <a:off x="6163441" y="2726357"/>
            <a:ext cx="21775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i="1" dirty="0"/>
              <a:t>D</a:t>
            </a:r>
            <a:r>
              <a:rPr lang="it-IT" sz="1600" dirty="0"/>
              <a:t>:  </a:t>
            </a:r>
            <a:r>
              <a:rPr lang="it-IT" sz="1600" dirty="0">
                <a:effectLst/>
                <a:latin typeface="CMBX12"/>
              </a:rPr>
              <a:t>correlazione positiva (</a:t>
            </a:r>
            <a:r>
              <a:rPr lang="it-IT" sz="1600" i="1" dirty="0">
                <a:effectLst/>
                <a:latin typeface="CMBX12"/>
              </a:rPr>
              <a:t>r </a:t>
            </a:r>
            <a:r>
              <a:rPr lang="it-IT" sz="1600" dirty="0">
                <a:effectLst/>
                <a:latin typeface="CMBX12"/>
              </a:rPr>
              <a:t>= 0.65)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>
              <a:latin typeface="CMBX1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>
                <a:effectLst/>
                <a:latin typeface="CMBX12"/>
              </a:rPr>
              <a:t> Correlazioni deboli per gli altri parametri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93DFC8C5-70C8-3C76-571E-D1BB03FF1018}"/>
              </a:ext>
            </a:extLst>
          </p:cNvPr>
          <p:cNvSpPr/>
          <p:nvPr/>
        </p:nvSpPr>
        <p:spPr>
          <a:xfrm>
            <a:off x="7348482" y="5726246"/>
            <a:ext cx="4843518" cy="186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3C1D131-71E9-2EDF-5E0E-CA915B0EB4CC}"/>
              </a:ext>
            </a:extLst>
          </p:cNvPr>
          <p:cNvSpPr txBox="1"/>
          <p:nvPr/>
        </p:nvSpPr>
        <p:spPr>
          <a:xfrm>
            <a:off x="8987588" y="5726246"/>
            <a:ext cx="2430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3 </a:t>
            </a:r>
            <a:r>
              <a:rPr lang="en-GB" sz="1600" i="1" dirty="0"/>
              <a:t>T</a:t>
            </a:r>
            <a:r>
              <a:rPr lang="en-GB" sz="1600" dirty="0"/>
              <a:t>, </a:t>
            </a:r>
            <a:r>
              <a:rPr lang="en-GB" sz="1600" i="1" dirty="0"/>
              <a:t>r</a:t>
            </a:r>
            <a:r>
              <a:rPr lang="en-GB" sz="1600" dirty="0"/>
              <a:t> &amp; </a:t>
            </a:r>
            <a:r>
              <a:rPr lang="en-GB" sz="1600" i="1" dirty="0"/>
              <a:t>p</a:t>
            </a:r>
            <a:r>
              <a:rPr lang="en-GB" sz="1600" dirty="0"/>
              <a:t>-value</a:t>
            </a: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FFE840B4-BF6A-E066-747F-6D8529FB2F20}"/>
              </a:ext>
            </a:extLst>
          </p:cNvPr>
          <p:cNvSpPr/>
          <p:nvPr/>
        </p:nvSpPr>
        <p:spPr>
          <a:xfrm>
            <a:off x="35075" y="5709407"/>
            <a:ext cx="4843518" cy="1862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DD454BD8-EA53-4761-0091-0B7C65683230}"/>
              </a:ext>
            </a:extLst>
          </p:cNvPr>
          <p:cNvSpPr txBox="1"/>
          <p:nvPr/>
        </p:nvSpPr>
        <p:spPr>
          <a:xfrm>
            <a:off x="1399631" y="5726246"/>
            <a:ext cx="24303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i="1" dirty="0"/>
              <a:t>1.5 T</a:t>
            </a:r>
            <a:r>
              <a:rPr lang="en-GB" sz="1600" dirty="0"/>
              <a:t>, </a:t>
            </a:r>
            <a:r>
              <a:rPr lang="en-GB" sz="1600" i="1" dirty="0"/>
              <a:t>r</a:t>
            </a:r>
            <a:r>
              <a:rPr lang="en-GB" sz="1600" dirty="0"/>
              <a:t> &amp; </a:t>
            </a:r>
            <a:r>
              <a:rPr lang="en-GB" sz="1600" i="1" dirty="0"/>
              <a:t>p</a:t>
            </a:r>
            <a:r>
              <a:rPr lang="en-GB" sz="1600" dirty="0"/>
              <a:t>-value</a:t>
            </a:r>
          </a:p>
        </p:txBody>
      </p:sp>
    </p:spTree>
    <p:extLst>
      <p:ext uri="{BB962C8B-B14F-4D97-AF65-F5344CB8AC3E}">
        <p14:creationId xmlns:p14="http://schemas.microsoft.com/office/powerpoint/2010/main" val="181670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5" descr="Fondino">
            <a:extLst>
              <a:ext uri="{FF2B5EF4-FFF2-40B4-BE49-F238E27FC236}">
                <a16:creationId xmlns:a16="http://schemas.microsoft.com/office/drawing/2014/main" id="{E7264FBF-622F-5D2F-A330-44B451FAA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olo 1">
            <a:extLst>
              <a:ext uri="{FF2B5EF4-FFF2-40B4-BE49-F238E27FC236}">
                <a16:creationId xmlns:a16="http://schemas.microsoft.com/office/drawing/2014/main" id="{A0541AE2-48ED-520C-4EA7-146ED306C8CA}"/>
              </a:ext>
            </a:extLst>
          </p:cNvPr>
          <p:cNvSpPr txBox="1">
            <a:spLocks/>
          </p:cNvSpPr>
          <p:nvPr/>
        </p:nvSpPr>
        <p:spPr>
          <a:xfrm>
            <a:off x="838200" y="15913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it-IT" sz="4500" b="1" dirty="0">
                <a:solidFill>
                  <a:srgbClr val="822433"/>
                </a:solidFill>
              </a:rPr>
              <a:t>Risultati a confronto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45935DE-3F32-4E0F-F4A5-0A7EE2FBF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2135" y="1205514"/>
            <a:ext cx="3954659" cy="1786920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6C5F2E1-D11A-9846-AB7C-A7F89DB98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62" y="1226983"/>
            <a:ext cx="4117449" cy="1765451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004C23C4-7507-7029-D5A0-0FD02F30E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3961" y="3325038"/>
            <a:ext cx="2829839" cy="2755369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875DD11-94BB-4249-4CCC-70B2F17565C7}"/>
              </a:ext>
            </a:extLst>
          </p:cNvPr>
          <p:cNvSpPr txBox="1"/>
          <p:nvPr/>
        </p:nvSpPr>
        <p:spPr>
          <a:xfrm>
            <a:off x="4767487" y="1720742"/>
            <a:ext cx="2102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Medie dei parametri</a:t>
            </a: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C8F50611-E8EC-D432-8E35-6D9859CD3FFC}"/>
              </a:ext>
            </a:extLst>
          </p:cNvPr>
          <p:cNvCxnSpPr/>
          <p:nvPr/>
        </p:nvCxnSpPr>
        <p:spPr>
          <a:xfrm flipV="1">
            <a:off x="662940" y="3298152"/>
            <a:ext cx="10561320" cy="21468"/>
          </a:xfrm>
          <a:prstGeom prst="line">
            <a:avLst/>
          </a:prstGeom>
          <a:ln w="9525">
            <a:solidFill>
              <a:srgbClr val="8223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6E41959-4A37-ADD7-31C5-C9E999D41A3E}"/>
              </a:ext>
            </a:extLst>
          </p:cNvPr>
          <p:cNvSpPr txBox="1"/>
          <p:nvPr/>
        </p:nvSpPr>
        <p:spPr>
          <a:xfrm>
            <a:off x="1121316" y="3710212"/>
            <a:ext cx="656082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effectLst/>
                <a:latin typeface="CMBX12"/>
              </a:rPr>
              <a:t>Welch’s </a:t>
            </a:r>
            <a:r>
              <a:rPr lang="it-IT" sz="2000" b="1" dirty="0"/>
              <a:t> </a:t>
            </a:r>
            <a:r>
              <a:rPr lang="it-IT" sz="2000" b="1" i="1" dirty="0"/>
              <a:t>t</a:t>
            </a:r>
            <a:r>
              <a:rPr lang="it-IT" sz="2000" b="1" dirty="0"/>
              <a:t>-test: </a:t>
            </a:r>
            <a:r>
              <a:rPr lang="it-IT" dirty="0"/>
              <a:t>per il confronto tra medie di valori di due campioni differenti, assumendo che essi </a:t>
            </a:r>
            <a:r>
              <a:rPr lang="it-IT" b="1" dirty="0"/>
              <a:t>non</a:t>
            </a:r>
            <a:r>
              <a:rPr lang="it-IT" dirty="0"/>
              <a:t> abbiano </a:t>
            </a:r>
            <a:r>
              <a:rPr lang="it-IT" b="1" dirty="0"/>
              <a:t>stessa varianza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835F88D2-0DD4-598F-EFEE-2F1D41303D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4911" y="4558093"/>
            <a:ext cx="2578100" cy="1066800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0F4A808F-49F9-9170-465C-A148B022474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2762" y="4714752"/>
            <a:ext cx="1778000" cy="86360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43AD94EB-BED5-C93F-A76D-72399C0D28FF}"/>
              </a:ext>
            </a:extLst>
          </p:cNvPr>
          <p:cNvSpPr txBox="1"/>
          <p:nvPr/>
        </p:nvSpPr>
        <p:spPr>
          <a:xfrm>
            <a:off x="3855180" y="4974364"/>
            <a:ext cx="1328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Gradi di libertà: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F144905-4728-1B56-3E07-F34722B3B65B}"/>
              </a:ext>
            </a:extLst>
          </p:cNvPr>
          <p:cNvSpPr txBox="1"/>
          <p:nvPr/>
        </p:nvSpPr>
        <p:spPr>
          <a:xfrm>
            <a:off x="1114591" y="2905007"/>
            <a:ext cx="364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Medie su 15 placente, acquisite a 1.5T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72B612-4526-F0FF-5BD4-5B51D9A8F88F}"/>
              </a:ext>
            </a:extLst>
          </p:cNvPr>
          <p:cNvSpPr txBox="1"/>
          <p:nvPr/>
        </p:nvSpPr>
        <p:spPr>
          <a:xfrm>
            <a:off x="7710611" y="2879425"/>
            <a:ext cx="36431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dirty="0"/>
              <a:t>Medie su 7 placente, acquisite a 3T</a:t>
            </a:r>
          </a:p>
        </p:txBody>
      </p:sp>
    </p:spTree>
    <p:extLst>
      <p:ext uri="{BB962C8B-B14F-4D97-AF65-F5344CB8AC3E}">
        <p14:creationId xmlns:p14="http://schemas.microsoft.com/office/powerpoint/2010/main" val="2963516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FB680-2FAA-7591-9015-C672478E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1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Conclusioni</a:t>
            </a:r>
          </a:p>
        </p:txBody>
      </p:sp>
      <p:pic>
        <p:nvPicPr>
          <p:cNvPr id="6" name="Picture 15" descr="Fondino">
            <a:extLst>
              <a:ext uri="{FF2B5EF4-FFF2-40B4-BE49-F238E27FC236}">
                <a16:creationId xmlns:a16="http://schemas.microsoft.com/office/drawing/2014/main" id="{7930A3F0-A695-64FF-C4C0-8D232DF9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egnaposto testo 10">
                <a:extLst>
                  <a:ext uri="{FF2B5EF4-FFF2-40B4-BE49-F238E27FC236}">
                    <a16:creationId xmlns:a16="http://schemas.microsoft.com/office/drawing/2014/main" id="{837C3A71-6FFC-69DC-1A56-97BD53825D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38200" y="1694483"/>
                <a:ext cx="10515600" cy="3832257"/>
              </a:xfrm>
            </p:spPr>
            <p:txBody>
              <a:bodyPr>
                <a:normAutofit/>
              </a:bodyPr>
              <a:lstStyle/>
              <a:p>
                <a:r>
                  <a:rPr lang="it-IT" sz="2100" b="1" dirty="0"/>
                  <a:t>Vantaggi della MRI ad alto campo</a:t>
                </a:r>
                <a:r>
                  <a:rPr lang="it-IT" sz="2100" dirty="0"/>
                  <a:t>:  </a:t>
                </a:r>
              </a:p>
              <a:p>
                <a:pPr marL="457200" lvl="1" indent="0">
                  <a:buNone/>
                </a:pPr>
                <a:r>
                  <a:rPr lang="it-IT" sz="1800" dirty="0"/>
                  <a:t>Miglioramento del SNR normalizzato nel 3</a:t>
                </a:r>
                <a:r>
                  <a:rPr lang="it-IT" sz="1800" i="1" dirty="0"/>
                  <a:t>T </a:t>
                </a:r>
                <a:r>
                  <a:rPr lang="it-IT" sz="1800" dirty="0"/>
                  <a:t>rispetto al 1.5</a:t>
                </a:r>
                <a:r>
                  <a:rPr lang="it-IT" sz="1800" i="1" dirty="0"/>
                  <a:t>T</a:t>
                </a:r>
                <a:r>
                  <a:rPr lang="it-IT" sz="1800" dirty="0"/>
                  <a:t> </a:t>
                </a:r>
                <a:r>
                  <a:rPr lang="it-IT" sz="1800" dirty="0">
                    <a:sym typeface="Wingdings" pitchFamily="2" charset="2"/>
                  </a:rPr>
                  <a:t>  miglioramento di sensibilità e contrasto dei dati di imaging, fornendo immagini più chiare e dettagliate.</a:t>
                </a:r>
              </a:p>
              <a:p>
                <a:pPr marL="457200" lvl="1" indent="0">
                  <a:buNone/>
                </a:pPr>
                <a:endParaRPr lang="it-IT" sz="1800" dirty="0">
                  <a:sym typeface="Wingdings" pitchFamily="2" charset="2"/>
                </a:endParaRPr>
              </a:p>
              <a:p>
                <a:pPr marL="457200" lvl="1" indent="0">
                  <a:buNone/>
                </a:pPr>
                <a:endParaRPr lang="it-IT" sz="1800" dirty="0">
                  <a:sym typeface="Wingdings" pitchFamily="2" charset="2"/>
                </a:endParaRPr>
              </a:p>
              <a:p>
                <a:pPr marL="457200" lvl="1" indent="0">
                  <a:buNone/>
                </a:pPr>
                <a:r>
                  <a:rPr lang="it-IT" sz="1800" dirty="0">
                    <a:sym typeface="Wingdings" pitchFamily="2" charset="2"/>
                  </a:rPr>
                  <a:t>Per una valutazione più accurata e dettagliata della salute e della funzione della placenta è dunque preferibile intensità di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8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it-IT" sz="1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it-IT" sz="180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800" dirty="0">
                    <a:sym typeface="Wingdings" pitchFamily="2" charset="2"/>
                  </a:rPr>
                  <a:t>più elevate.</a:t>
                </a:r>
              </a:p>
              <a:p>
                <a:pPr marL="457200" lvl="1" indent="0">
                  <a:buNone/>
                </a:pPr>
                <a:endParaRPr lang="it-IT" sz="1800" dirty="0">
                  <a:sym typeface="Wingdings" pitchFamily="2" charset="2"/>
                </a:endParaRPr>
              </a:p>
              <a:p>
                <a:r>
                  <a:rPr lang="it-IT" sz="2100" b="1" dirty="0"/>
                  <a:t>Valori più elevati di </a:t>
                </a:r>
                <a14:m>
                  <m:oMath xmlns:m="http://schemas.openxmlformats.org/officeDocument/2006/math">
                    <m:r>
                      <a:rPr lang="it-IT" sz="2000" b="1" i="1" smtClean="0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it-IT" sz="2100" b="1" dirty="0"/>
                  <a:t> 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it-IT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it-IT" sz="2100" b="1" dirty="0"/>
                  <a:t> nella parte fetale</a:t>
                </a:r>
                <a:r>
                  <a:rPr lang="it-IT" sz="2100" dirty="0"/>
                  <a:t> (come ci aspettavamo):</a:t>
                </a:r>
              </a:p>
              <a:p>
                <a:pPr marL="457200" lvl="1" indent="0">
                  <a:buNone/>
                </a:pPr>
                <a:r>
                  <a:rPr lang="it-IT" sz="1800" dirty="0">
                    <a:sym typeface="Wingdings" pitchFamily="2" charset="2"/>
                  </a:rPr>
                  <a:t>Maggiore attività metabolica e lo scambio di nutrienti necessari per lo sviluppo fetale.</a:t>
                </a:r>
              </a:p>
              <a:p>
                <a:pPr marL="457200" lvl="1" indent="0">
                  <a:buNone/>
                </a:pPr>
                <a:r>
                  <a:rPr lang="it-IT" sz="1800" dirty="0"/>
                  <a:t>Al contrario, la parte materna mostra valori più bassi (fornitura di sangue alla placenta).</a:t>
                </a:r>
              </a:p>
            </p:txBody>
          </p:sp>
        </mc:Choice>
        <mc:Fallback xmlns="">
          <p:sp>
            <p:nvSpPr>
              <p:cNvPr id="11" name="Segnaposto testo 10">
                <a:extLst>
                  <a:ext uri="{FF2B5EF4-FFF2-40B4-BE49-F238E27FC236}">
                    <a16:creationId xmlns:a16="http://schemas.microsoft.com/office/drawing/2014/main" id="{837C3A71-6FFC-69DC-1A56-97BD53825D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694483"/>
                <a:ext cx="10515600" cy="3832257"/>
              </a:xfrm>
              <a:blipFill>
                <a:blip r:embed="rId3"/>
                <a:stretch>
                  <a:fillRect l="-603" t="-1980" r="-6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reccia giù 2">
            <a:extLst>
              <a:ext uri="{FF2B5EF4-FFF2-40B4-BE49-F238E27FC236}">
                <a16:creationId xmlns:a16="http://schemas.microsoft.com/office/drawing/2014/main" id="{804CA7BC-BF52-2D5D-35DE-9E68B711B829}"/>
              </a:ext>
            </a:extLst>
          </p:cNvPr>
          <p:cNvSpPr/>
          <p:nvPr/>
        </p:nvSpPr>
        <p:spPr>
          <a:xfrm>
            <a:off x="5885447" y="2666531"/>
            <a:ext cx="421105" cy="533869"/>
          </a:xfrm>
          <a:prstGeom prst="downArrow">
            <a:avLst/>
          </a:prstGeom>
          <a:solidFill>
            <a:srgbClr val="82233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29702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7FB680-2FAA-7591-9015-C672478E3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240856"/>
          </a:xfrm>
        </p:spPr>
        <p:txBody>
          <a:bodyPr>
            <a:normAutofit/>
          </a:bodyPr>
          <a:lstStyle/>
          <a:p>
            <a:pPr algn="ctr"/>
            <a:r>
              <a:rPr lang="it-IT" sz="4500" b="1" dirty="0">
                <a:solidFill>
                  <a:srgbClr val="822433"/>
                </a:solidFill>
              </a:rPr>
              <a:t>Bibliografia</a:t>
            </a:r>
          </a:p>
        </p:txBody>
      </p:sp>
      <p:pic>
        <p:nvPicPr>
          <p:cNvPr id="6" name="Picture 15" descr="Fondino">
            <a:extLst>
              <a:ext uri="{FF2B5EF4-FFF2-40B4-BE49-F238E27FC236}">
                <a16:creationId xmlns:a16="http://schemas.microsoft.com/office/drawing/2014/main" id="{7930A3F0-A695-64FF-C4C0-8D232DF9D0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76963"/>
            <a:ext cx="12192000" cy="68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egnaposto testo 10">
            <a:extLst>
              <a:ext uri="{FF2B5EF4-FFF2-40B4-BE49-F238E27FC236}">
                <a16:creationId xmlns:a16="http://schemas.microsoft.com/office/drawing/2014/main" id="{837C3A71-6FFC-69DC-1A56-97BD53825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92235"/>
            <a:ext cx="10515600" cy="49262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[1]  Alessandra Maiuro, Giada </a:t>
            </a:r>
            <a:r>
              <a:rPr lang="en-AU" sz="1200" dirty="0" err="1">
                <a:effectLst/>
                <a:latin typeface="CMR12"/>
              </a:rPr>
              <a:t>Ercolani</a:t>
            </a:r>
            <a:r>
              <a:rPr lang="en-AU" sz="1200" dirty="0">
                <a:effectLst/>
                <a:latin typeface="CMR12"/>
              </a:rPr>
              <a:t>, Francesca Di </a:t>
            </a:r>
            <a:r>
              <a:rPr lang="en-AU" sz="1200" dirty="0" err="1">
                <a:effectLst/>
                <a:latin typeface="CMR12"/>
              </a:rPr>
              <a:t>Stadio</a:t>
            </a:r>
            <a:r>
              <a:rPr lang="en-AU" sz="1200" dirty="0">
                <a:effectLst/>
                <a:latin typeface="CMR12"/>
              </a:rPr>
              <a:t>, Amanda Antonelli, Carlo Catalano, Lucia </a:t>
            </a:r>
            <a:r>
              <a:rPr lang="en-AU" sz="1200" dirty="0" err="1">
                <a:effectLst/>
                <a:latin typeface="CMR12"/>
              </a:rPr>
              <a:t>Manganaro</a:t>
            </a:r>
            <a:r>
              <a:rPr lang="en-AU" sz="1200" dirty="0">
                <a:effectLst/>
                <a:latin typeface="CMR12"/>
              </a:rPr>
              <a:t>, and Silvia </a:t>
            </a:r>
            <a:r>
              <a:rPr lang="en-AU" sz="1200" dirty="0" err="1">
                <a:effectLst/>
                <a:latin typeface="CMR12"/>
              </a:rPr>
              <a:t>Capuani</a:t>
            </a:r>
            <a:r>
              <a:rPr lang="en-AU" sz="1200" dirty="0">
                <a:effectLst/>
                <a:latin typeface="CMR12"/>
              </a:rPr>
              <a:t>. Two-compartment perfusion </a:t>
            </a:r>
            <a:r>
              <a:rPr lang="en-AU" sz="1200" dirty="0" err="1">
                <a:effectLst/>
                <a:latin typeface="CMR12"/>
              </a:rPr>
              <a:t>mr</a:t>
            </a:r>
            <a:r>
              <a:rPr lang="en-AU" sz="1200" dirty="0">
                <a:effectLst/>
                <a:latin typeface="CMR12"/>
              </a:rPr>
              <a:t> ivim model to investigate normal and pathological placental tissue. </a:t>
            </a:r>
            <a:r>
              <a:rPr lang="en-AU" sz="1200" dirty="0">
                <a:effectLst/>
                <a:latin typeface="CMTI12"/>
              </a:rPr>
              <a:t>Journal of Magnetic Resonance Imaging</a:t>
            </a:r>
            <a:r>
              <a:rPr lang="en-AU" sz="1200" dirty="0">
                <a:effectLst/>
                <a:latin typeface="CMR12"/>
              </a:rPr>
              <a:t>, 2024, </a:t>
            </a:r>
            <a:r>
              <a:rPr lang="it-IT" sz="1200" dirty="0">
                <a:effectLst/>
                <a:latin typeface="CMR12"/>
              </a:rPr>
              <a:t>59(3):879–891, 2024.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[2]  Paul T. Callaghan. </a:t>
            </a:r>
            <a:r>
              <a:rPr lang="en-AU" sz="1200" dirty="0">
                <a:effectLst/>
                <a:latin typeface="CMTI12"/>
              </a:rPr>
              <a:t>Principles of Nuclear Magnetic Resonance Microscopy</a:t>
            </a:r>
            <a:r>
              <a:rPr lang="en-AU" sz="1200" dirty="0">
                <a:effectLst/>
                <a:latin typeface="CMR12"/>
              </a:rPr>
              <a:t>. Oxford University Press, Oxford, UK, 1993.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[3]  Wikipedia contributors. Nuclear magnetic resonance — </a:t>
            </a:r>
            <a:r>
              <a:rPr lang="en-AU" sz="1200" dirty="0">
                <a:latin typeface="CMR12"/>
              </a:rPr>
              <a:t>W</a:t>
            </a:r>
            <a:r>
              <a:rPr lang="en-AU" sz="1200" dirty="0">
                <a:effectLst/>
                <a:latin typeface="CMR12"/>
              </a:rPr>
              <a:t>ikipedia, the free encyclopedia. </a:t>
            </a:r>
            <a:r>
              <a:rPr lang="en-AU" sz="1200" dirty="0">
                <a:effectLst/>
                <a:latin typeface="CMTT12"/>
              </a:rPr>
              <a:t>https://</a:t>
            </a:r>
            <a:r>
              <a:rPr lang="en-AU" sz="1200" dirty="0" err="1">
                <a:effectLst/>
                <a:latin typeface="CMTT12"/>
              </a:rPr>
              <a:t>en.wikipedia.org</a:t>
            </a:r>
            <a:r>
              <a:rPr lang="en-AU" sz="1200" dirty="0">
                <a:effectLst/>
                <a:latin typeface="CMTT12"/>
              </a:rPr>
              <a:t>/wiki/</a:t>
            </a:r>
            <a:r>
              <a:rPr lang="en-AU" sz="1200" dirty="0" err="1">
                <a:effectLst/>
                <a:latin typeface="CMTT12"/>
              </a:rPr>
              <a:t>Nuclear_magnetic</a:t>
            </a:r>
            <a:r>
              <a:rPr lang="en-AU" sz="1200" dirty="0">
                <a:effectLst/>
                <a:latin typeface="CMTT12"/>
              </a:rPr>
              <a:t>_ resonance</a:t>
            </a:r>
            <a:r>
              <a:rPr lang="en-AU" sz="1200" dirty="0">
                <a:effectLst/>
                <a:latin typeface="CMR12"/>
              </a:rPr>
              <a:t>, 2024. Accessed: 2024-07-13.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[4]  Trisha Roy, Thomas Forbes, Andrew Dueck, and Graham Wright. </a:t>
            </a:r>
            <a:r>
              <a:rPr lang="en-AU" sz="1200" dirty="0" err="1">
                <a:effectLst/>
                <a:latin typeface="CMR12"/>
              </a:rPr>
              <a:t>Mri</a:t>
            </a:r>
            <a:r>
              <a:rPr lang="en-AU" sz="1200" dirty="0">
                <a:effectLst/>
                <a:latin typeface="CMR12"/>
              </a:rPr>
              <a:t> for peripheral artery disease: Introductory physics for vascular physicians. </a:t>
            </a:r>
            <a:r>
              <a:rPr lang="en-AU" sz="1200" dirty="0">
                <a:effectLst/>
                <a:latin typeface="CMTI12"/>
              </a:rPr>
              <a:t>Vascular Medicine</a:t>
            </a:r>
            <a:r>
              <a:rPr lang="en-AU" sz="1200" dirty="0">
                <a:effectLst/>
                <a:latin typeface="CMR12"/>
              </a:rPr>
              <a:t>, 23:1358863X1875982, 03 2018.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[5]  Myriam Hemberger, Chloe W. Hanna, and Wendy Dean. Mechanisms of early placental development in mouse and humans. </a:t>
            </a:r>
            <a:r>
              <a:rPr lang="en-AU" sz="1200" dirty="0">
                <a:effectLst/>
                <a:latin typeface="CMTI12"/>
              </a:rPr>
              <a:t>Nature Reviews Genetics</a:t>
            </a:r>
            <a:r>
              <a:rPr lang="en-AU" sz="1200" dirty="0">
                <a:effectLst/>
                <a:latin typeface="CMR12"/>
              </a:rPr>
              <a:t>, 21:27–43, 01 2020. Accepted 09 August 2019, Published 18 September 2019, Issue Date January 2020.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[6]  Denis Le </a:t>
            </a:r>
            <a:r>
              <a:rPr lang="en-AU" sz="1200" dirty="0" err="1">
                <a:effectLst/>
                <a:latin typeface="CMR12"/>
              </a:rPr>
              <a:t>Bihan</a:t>
            </a:r>
            <a:r>
              <a:rPr lang="en-AU" sz="1200" dirty="0">
                <a:effectLst/>
                <a:latin typeface="CMR12"/>
              </a:rPr>
              <a:t>. What can we see with ivim </a:t>
            </a:r>
            <a:r>
              <a:rPr lang="en-AU" sz="1200" dirty="0" err="1">
                <a:effectLst/>
                <a:latin typeface="CMR12"/>
              </a:rPr>
              <a:t>mri</a:t>
            </a:r>
            <a:r>
              <a:rPr lang="en-AU" sz="1200" dirty="0">
                <a:effectLst/>
                <a:latin typeface="CMR12"/>
              </a:rPr>
              <a:t>? </a:t>
            </a:r>
            <a:r>
              <a:rPr lang="en-AU" sz="1200" dirty="0">
                <a:effectLst/>
                <a:latin typeface="CMTI12"/>
              </a:rPr>
              <a:t>Neuro Image</a:t>
            </a:r>
            <a:r>
              <a:rPr lang="en-AU" sz="1200" dirty="0">
                <a:effectLst/>
                <a:latin typeface="CMR12"/>
              </a:rPr>
              <a:t>, 187:56–67, 2019. Physiological and Quantitative MRI.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[7]  Hirotugu Akaike. A new look at the statistical model identification. </a:t>
            </a:r>
            <a:r>
              <a:rPr lang="en-AU" sz="1200" dirty="0">
                <a:effectLst/>
                <a:latin typeface="CMTI12"/>
              </a:rPr>
              <a:t>IEEE Transactions on Automatic Control</a:t>
            </a:r>
            <a:r>
              <a:rPr lang="en-AU" sz="1200" dirty="0">
                <a:effectLst/>
                <a:latin typeface="CMR12"/>
              </a:rPr>
              <a:t>, 19(6):716–723, 1974.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[8]  Wikipedia contributors. Kolmogorov–</a:t>
            </a:r>
            <a:r>
              <a:rPr lang="en-AU" sz="1200" dirty="0" err="1">
                <a:effectLst/>
                <a:latin typeface="CMR12"/>
              </a:rPr>
              <a:t>smirnov</a:t>
            </a:r>
            <a:r>
              <a:rPr lang="en-AU" sz="1200" dirty="0">
                <a:effectLst/>
                <a:latin typeface="CMR12"/>
              </a:rPr>
              <a:t> test — </a:t>
            </a:r>
            <a:r>
              <a:rPr lang="en-AU" sz="1200" dirty="0">
                <a:latin typeface="CMR12"/>
              </a:rPr>
              <a:t>W</a:t>
            </a:r>
            <a:r>
              <a:rPr lang="en-AU" sz="1200" dirty="0">
                <a:effectLst/>
                <a:latin typeface="CMR12"/>
              </a:rPr>
              <a:t>ikipedia, the free encyclopedia. </a:t>
            </a:r>
            <a:r>
              <a:rPr lang="en-AU" sz="1200" dirty="0">
                <a:effectLst/>
                <a:latin typeface="CMTT12"/>
              </a:rPr>
              <a:t>https://</a:t>
            </a:r>
            <a:r>
              <a:rPr lang="en-AU" sz="1200" dirty="0" err="1">
                <a:effectLst/>
                <a:latin typeface="CMTT12"/>
              </a:rPr>
              <a:t>en.wikipedia.org</a:t>
            </a:r>
            <a:r>
              <a:rPr lang="en-AU" sz="1200" dirty="0">
                <a:effectLst/>
                <a:latin typeface="CMTT12"/>
              </a:rPr>
              <a:t>/wiki/Kolmogorov--</a:t>
            </a:r>
            <a:r>
              <a:rPr lang="en-AU" sz="1200" dirty="0" err="1">
                <a:effectLst/>
                <a:latin typeface="CMTT12"/>
              </a:rPr>
              <a:t>Smirnov_test</a:t>
            </a:r>
            <a:r>
              <a:rPr lang="en-AU" sz="1200" dirty="0">
                <a:effectLst/>
                <a:latin typeface="CMR12"/>
              </a:rPr>
              <a:t>, 2024. Accessed: 2024-07-13.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[9]  Mara </a:t>
            </a:r>
            <a:r>
              <a:rPr lang="en-AU" sz="1200" dirty="0" err="1">
                <a:effectLst/>
                <a:latin typeface="CMR12"/>
              </a:rPr>
              <a:t>Cercignani</a:t>
            </a:r>
            <a:r>
              <a:rPr lang="en-AU" sz="1200" dirty="0">
                <a:effectLst/>
                <a:latin typeface="CMR12"/>
              </a:rPr>
              <a:t> and Mark A Horsfield. The physical basis of </a:t>
            </a:r>
            <a:r>
              <a:rPr lang="en-AU" sz="1200" dirty="0" err="1">
                <a:effectLst/>
                <a:latin typeface="CMR12"/>
              </a:rPr>
              <a:t>diffusion-weighted</a:t>
            </a:r>
            <a:r>
              <a:rPr lang="en-AU" sz="1200" dirty="0">
                <a:effectLst/>
                <a:latin typeface="CMR12"/>
              </a:rPr>
              <a:t> </a:t>
            </a:r>
            <a:r>
              <a:rPr lang="en-AU" sz="1200" dirty="0" err="1">
                <a:effectLst/>
                <a:latin typeface="CMR12"/>
              </a:rPr>
              <a:t>mri</a:t>
            </a:r>
            <a:r>
              <a:rPr lang="en-AU" sz="1200" dirty="0">
                <a:effectLst/>
                <a:latin typeface="CMR12"/>
              </a:rPr>
              <a:t>. </a:t>
            </a:r>
            <a:r>
              <a:rPr lang="en-AU" sz="1200" dirty="0">
                <a:effectLst/>
                <a:latin typeface="CMTI12"/>
              </a:rPr>
              <a:t>Journal of the Neurological Sciences</a:t>
            </a:r>
            <a:r>
              <a:rPr lang="en-AU" sz="1200" dirty="0">
                <a:effectLst/>
                <a:latin typeface="CMR12"/>
              </a:rPr>
              <a:t>, 186(1-2):511–514, 2001.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[10]  Maria Giovanna Di </a:t>
            </a:r>
            <a:r>
              <a:rPr lang="en-AU" sz="1200" dirty="0" err="1">
                <a:effectLst/>
                <a:latin typeface="CMR12"/>
              </a:rPr>
              <a:t>Trani</a:t>
            </a:r>
            <a:r>
              <a:rPr lang="en-AU" sz="1200" dirty="0">
                <a:effectLst/>
                <a:latin typeface="CMR12"/>
              </a:rPr>
              <a:t>, Lucia </a:t>
            </a:r>
            <a:r>
              <a:rPr lang="en-AU" sz="1200" dirty="0" err="1">
                <a:effectLst/>
                <a:latin typeface="CMR12"/>
              </a:rPr>
              <a:t>Manganaro</a:t>
            </a:r>
            <a:r>
              <a:rPr lang="en-AU" sz="1200" dirty="0">
                <a:effectLst/>
                <a:latin typeface="CMR12"/>
              </a:rPr>
              <a:t>, Amanda Antonelli, Michele </a:t>
            </a:r>
            <a:r>
              <a:rPr lang="en-AU" sz="1200" dirty="0" err="1">
                <a:effectLst/>
                <a:latin typeface="CMR12"/>
              </a:rPr>
              <a:t>Guerreri</a:t>
            </a:r>
            <a:r>
              <a:rPr lang="en-AU" sz="1200" dirty="0">
                <a:effectLst/>
                <a:latin typeface="CMR12"/>
              </a:rPr>
              <a:t>, Riccardo De </a:t>
            </a:r>
            <a:r>
              <a:rPr lang="en-AU" sz="1200" dirty="0" err="1">
                <a:effectLst/>
                <a:latin typeface="CMR12"/>
              </a:rPr>
              <a:t>Feo</a:t>
            </a:r>
            <a:r>
              <a:rPr lang="en-AU" sz="1200" dirty="0">
                <a:effectLst/>
                <a:latin typeface="CMR12"/>
              </a:rPr>
              <a:t>, Carlo Catalano, and Silvia </a:t>
            </a:r>
            <a:r>
              <a:rPr lang="en-AU" sz="1200" dirty="0" err="1">
                <a:effectLst/>
                <a:latin typeface="CMR12"/>
              </a:rPr>
              <a:t>Capuani</a:t>
            </a:r>
            <a:r>
              <a:rPr lang="en-AU" sz="1200" dirty="0">
                <a:effectLst/>
                <a:latin typeface="CMR12"/>
              </a:rPr>
              <a:t>. Assessment of brain development in normal </a:t>
            </a:r>
            <a:r>
              <a:rPr lang="en-AU" sz="1200" dirty="0" err="1">
                <a:effectLst/>
                <a:latin typeface="CMR12"/>
              </a:rPr>
              <a:t>fetuses</a:t>
            </a:r>
            <a:r>
              <a:rPr lang="en-AU" sz="1200" dirty="0">
                <a:effectLst/>
                <a:latin typeface="CMR12"/>
              </a:rPr>
              <a:t> and ventriculomegaly by diffusion tensor magnetic resonance imaging. </a:t>
            </a:r>
            <a:r>
              <a:rPr lang="en-AU" sz="1200" dirty="0">
                <a:effectLst/>
                <a:latin typeface="CMTI12"/>
              </a:rPr>
              <a:t>Frontiers in Physics</a:t>
            </a:r>
            <a:r>
              <a:rPr lang="en-AU" sz="1200" dirty="0">
                <a:effectLst/>
                <a:latin typeface="CMR12"/>
              </a:rPr>
              <a:t>, 2019, 7:150.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[11]  G </a:t>
            </a:r>
            <a:r>
              <a:rPr lang="en-AU" sz="1200" dirty="0" err="1">
                <a:effectLst/>
                <a:latin typeface="CMR12"/>
              </a:rPr>
              <a:t>Fournet</a:t>
            </a:r>
            <a:r>
              <a:rPr lang="en-AU" sz="1200" dirty="0">
                <a:effectLst/>
                <a:latin typeface="CMR12"/>
              </a:rPr>
              <a:t>, J-R Li, AM </a:t>
            </a:r>
            <a:r>
              <a:rPr lang="en-AU" sz="1200" dirty="0" err="1">
                <a:effectLst/>
                <a:latin typeface="CMR12"/>
              </a:rPr>
              <a:t>Cerjanic</a:t>
            </a:r>
            <a:r>
              <a:rPr lang="en-AU" sz="1200" dirty="0">
                <a:effectLst/>
                <a:latin typeface="CMR12"/>
              </a:rPr>
              <a:t>, BP Sutton, L Ciobanu, and D Le </a:t>
            </a:r>
            <a:r>
              <a:rPr lang="en-AU" sz="1200" dirty="0" err="1">
                <a:effectLst/>
                <a:latin typeface="CMR12"/>
              </a:rPr>
              <a:t>Bihan</a:t>
            </a:r>
            <a:r>
              <a:rPr lang="en-AU" sz="1200" dirty="0">
                <a:effectLst/>
                <a:latin typeface="CMR12"/>
              </a:rPr>
              <a:t>. A two-pool model to describe the ivim cerebral perfusion. </a:t>
            </a:r>
            <a:r>
              <a:rPr lang="en-AU" sz="1200" dirty="0">
                <a:effectLst/>
                <a:latin typeface="CMTI12"/>
              </a:rPr>
              <a:t>Journal of Cerebral Blood Flow &amp; Metabolism</a:t>
            </a:r>
            <a:r>
              <a:rPr lang="en-AU" sz="1200" dirty="0">
                <a:effectLst/>
                <a:latin typeface="CMR12"/>
              </a:rPr>
              <a:t>, 37(8):2987–3000, 2017. </a:t>
            </a:r>
            <a:endParaRPr lang="en-AU" sz="1200" dirty="0"/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[12]  Cheng Guan </a:t>
            </a:r>
            <a:r>
              <a:rPr lang="en-AU" sz="1200" dirty="0" err="1">
                <a:effectLst/>
                <a:latin typeface="CMR12"/>
              </a:rPr>
              <a:t>Koay</a:t>
            </a:r>
            <a:r>
              <a:rPr lang="en-AU" sz="1200" dirty="0">
                <a:effectLst/>
                <a:latin typeface="CMR12"/>
              </a:rPr>
              <a:t> and </a:t>
            </a:r>
            <a:r>
              <a:rPr lang="en-AU" sz="1200" dirty="0" err="1">
                <a:effectLst/>
                <a:latin typeface="CMR12"/>
              </a:rPr>
              <a:t>Evren</a:t>
            </a:r>
            <a:r>
              <a:rPr lang="en-AU" sz="1200" dirty="0">
                <a:effectLst/>
                <a:latin typeface="CMR12"/>
              </a:rPr>
              <a:t> O ̈</a:t>
            </a:r>
            <a:r>
              <a:rPr lang="en-AU" sz="1200" dirty="0" err="1">
                <a:effectLst/>
                <a:latin typeface="CMR12"/>
              </a:rPr>
              <a:t>zarslan</a:t>
            </a:r>
            <a:r>
              <a:rPr lang="en-AU" sz="1200" dirty="0">
                <a:effectLst/>
                <a:latin typeface="CMR12"/>
              </a:rPr>
              <a:t>. Conceptual foundations of diffusion in magnetic resonance. </a:t>
            </a:r>
            <a:r>
              <a:rPr lang="en-AU" sz="1200" dirty="0">
                <a:effectLst/>
                <a:latin typeface="CMTI12"/>
              </a:rPr>
              <a:t>Concepts in Magnetic Resonance Part A: An Educational Journal</a:t>
            </a:r>
            <a:r>
              <a:rPr lang="en-AU" sz="1200" dirty="0">
                <a:effectLst/>
                <a:latin typeface="CMR12"/>
              </a:rPr>
              <a:t>, 42A(1):116–129, 2013.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r>
              <a:rPr lang="en-AU" sz="1200" dirty="0">
                <a:effectLst/>
                <a:latin typeface="CMR12"/>
              </a:rPr>
              <a:t>[13]  P. C. </a:t>
            </a:r>
            <a:r>
              <a:rPr lang="en-AU" sz="1200" dirty="0" err="1">
                <a:effectLst/>
                <a:latin typeface="CMR12"/>
              </a:rPr>
              <a:t>Sundgren</a:t>
            </a:r>
            <a:r>
              <a:rPr lang="en-AU" sz="1200" dirty="0">
                <a:effectLst/>
                <a:latin typeface="CMR12"/>
              </a:rPr>
              <a:t> et al. Diffusion tensor imaging of the brain: review of clinical applications. </a:t>
            </a:r>
            <a:r>
              <a:rPr lang="en-AU" sz="1200" dirty="0">
                <a:effectLst/>
                <a:latin typeface="CMTI12"/>
              </a:rPr>
              <a:t>Neuroradiology</a:t>
            </a:r>
            <a:r>
              <a:rPr lang="en-AU" sz="1200" dirty="0">
                <a:effectLst/>
                <a:latin typeface="CMR12"/>
              </a:rPr>
              <a:t>, 46:339–350, 2004. </a:t>
            </a:r>
            <a:endParaRPr lang="en-AU" sz="1200" dirty="0">
              <a:effectLst/>
            </a:endParaRPr>
          </a:p>
          <a:p>
            <a:pPr marL="0" indent="0">
              <a:buNone/>
            </a:pPr>
            <a:endParaRPr lang="en-AU" sz="1200" dirty="0"/>
          </a:p>
        </p:txBody>
      </p:sp>
    </p:spTree>
    <p:extLst>
      <p:ext uri="{BB962C8B-B14F-4D97-AF65-F5344CB8AC3E}">
        <p14:creationId xmlns:p14="http://schemas.microsoft.com/office/powerpoint/2010/main" val="20418381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1379</TotalTime>
  <Words>1557</Words>
  <Application>Microsoft Macintosh PowerPoint</Application>
  <PresentationFormat>Widescreen</PresentationFormat>
  <Paragraphs>154</Paragraphs>
  <Slides>20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CMBX12</vt:lpstr>
      <vt:lpstr>CMR12</vt:lpstr>
      <vt:lpstr>CMTI12</vt:lpstr>
      <vt:lpstr>CMTT12</vt:lpstr>
      <vt:lpstr>Tema di Office</vt:lpstr>
      <vt:lpstr>NMR Imaging di placente</vt:lpstr>
      <vt:lpstr>Definizioni preliminari</vt:lpstr>
      <vt:lpstr>Fondamenti fisici della NMR</vt:lpstr>
      <vt:lpstr>Fondamenti fisici della NMR</vt:lpstr>
      <vt:lpstr>Informazioni base sulla placenta umana</vt:lpstr>
      <vt:lpstr>Presentazione standard di PowerPoint</vt:lpstr>
      <vt:lpstr>Presentazione standard di PowerPoint</vt:lpstr>
      <vt:lpstr>Presentazione standard di PowerPoint</vt:lpstr>
      <vt:lpstr>Segmentazione placente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Conclusioni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Andrea Belli Contarini</dc:creator>
  <cp:lastModifiedBy>Andrea Belli Contarini</cp:lastModifiedBy>
  <cp:revision>134</cp:revision>
  <dcterms:created xsi:type="dcterms:W3CDTF">2024-07-13T18:22:56Z</dcterms:created>
  <dcterms:modified xsi:type="dcterms:W3CDTF">2024-07-21T17:57:02Z</dcterms:modified>
</cp:coreProperties>
</file>